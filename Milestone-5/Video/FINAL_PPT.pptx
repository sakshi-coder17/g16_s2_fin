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Lobster"/>
      <p:regular r:id="rId28"/>
    </p:embeddedFont>
    <p:embeddedFont>
      <p:font typeface="Helvetica Neue"/>
      <p:regular r:id="rId29"/>
      <p:bold r:id="rId30"/>
      <p:italic r:id="rId31"/>
      <p:boldItalic r:id="rId32"/>
    </p:embeddedFont>
    <p:embeddedFont>
      <p:font typeface="Helvetica Neue Light"/>
      <p:regular r:id="rId33"/>
      <p:bold r:id="rId34"/>
      <p:italic r:id="rId35"/>
      <p:boldItalic r:id="rId36"/>
    </p:embeddedFont>
    <p:embeddedFont>
      <p:font typeface="Roboto Mon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Lobster-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HelveticaNeue-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HelveticaNeue-italic.fntdata"/><Relationship Id="rId30" Type="http://schemas.openxmlformats.org/officeDocument/2006/relationships/font" Target="fonts/HelveticaNeue-bold.fntdata"/><Relationship Id="rId11" Type="http://schemas.openxmlformats.org/officeDocument/2006/relationships/slide" Target="slides/slide7.xml"/><Relationship Id="rId33" Type="http://schemas.openxmlformats.org/officeDocument/2006/relationships/font" Target="fonts/HelveticaNeueLight-regular.fntdata"/><Relationship Id="rId10" Type="http://schemas.openxmlformats.org/officeDocument/2006/relationships/slide" Target="slides/slide6.xml"/><Relationship Id="rId32" Type="http://schemas.openxmlformats.org/officeDocument/2006/relationships/font" Target="fonts/HelveticaNeue-boldItalic.fntdata"/><Relationship Id="rId13" Type="http://schemas.openxmlformats.org/officeDocument/2006/relationships/slide" Target="slides/slide9.xml"/><Relationship Id="rId35" Type="http://schemas.openxmlformats.org/officeDocument/2006/relationships/font" Target="fonts/HelveticaNeueLight-italic.fntdata"/><Relationship Id="rId12" Type="http://schemas.openxmlformats.org/officeDocument/2006/relationships/slide" Target="slides/slide8.xml"/><Relationship Id="rId34" Type="http://schemas.openxmlformats.org/officeDocument/2006/relationships/font" Target="fonts/HelveticaNeueLight-bold.fntdata"/><Relationship Id="rId15" Type="http://schemas.openxmlformats.org/officeDocument/2006/relationships/slide" Target="slides/slide11.xml"/><Relationship Id="rId37" Type="http://schemas.openxmlformats.org/officeDocument/2006/relationships/font" Target="fonts/RobotoMono-regular.fntdata"/><Relationship Id="rId14" Type="http://schemas.openxmlformats.org/officeDocument/2006/relationships/slide" Target="slides/slide10.xml"/><Relationship Id="rId36" Type="http://schemas.openxmlformats.org/officeDocument/2006/relationships/font" Target="fonts/HelveticaNeueLight-boldItalic.fntdata"/><Relationship Id="rId17" Type="http://schemas.openxmlformats.org/officeDocument/2006/relationships/slide" Target="slides/slide13.xml"/><Relationship Id="rId39" Type="http://schemas.openxmlformats.org/officeDocument/2006/relationships/font" Target="fonts/RobotoMono-italic.fntdata"/><Relationship Id="rId16" Type="http://schemas.openxmlformats.org/officeDocument/2006/relationships/slide" Target="slides/slide12.xml"/><Relationship Id="rId38" Type="http://schemas.openxmlformats.org/officeDocument/2006/relationships/font" Target="fonts/RobotoMono-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dfbb4dd89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3ddfbb4dd89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dfbb4dd89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ddfbb4dd89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dfbb4dd89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ddfbb4dd89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dfbb4dd8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dfbb4dd8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ddfbb4dd8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ccaf87918_4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ccaf87918_4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ccaf87918_4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dfbb4dd89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dfbb4dd89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ddfbb4dd89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cce822e3a_17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3dcce822e3a_17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cce822e3a_17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dcce822e3a_17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cce822e3a_17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dcce822e3a_17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cce822e3a_17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dcce822e3a_17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cce822e3a_17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Alright, so let me now walk you through how we actually built this in code. We start with Milestone 3 — which we call the Deterministic approach — and this is our baseline. Everything in M4 is built on top of this.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whole purpose of M3 is simple — implement the GPD model using Maximum Likelihood Estimation and establish a clean, reproducible baseline.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how does it work? We divided the M3 code into clear sections.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First is the </a:t>
            </a:r>
            <a:r>
              <a:rPr b="1" lang="en-US" sz="1100">
                <a:latin typeface="Arial"/>
                <a:ea typeface="Arial"/>
                <a:cs typeface="Arial"/>
                <a:sym typeface="Arial"/>
              </a:rPr>
              <a:t>Setup</a:t>
            </a:r>
            <a:r>
              <a:rPr lang="en-US" sz="1100">
                <a:latin typeface="Arial"/>
                <a:ea typeface="Arial"/>
                <a:cs typeface="Arial"/>
                <a:sym typeface="Arial"/>
              </a:rPr>
              <a:t>. We have three main functions here. </a:t>
            </a:r>
            <a:r>
              <a:rPr lang="en-US" sz="1100">
                <a:solidFill>
                  <a:srgbClr val="188038"/>
                </a:solidFill>
                <a:latin typeface="Roboto Mono"/>
                <a:ea typeface="Roboto Mono"/>
                <a:cs typeface="Roboto Mono"/>
                <a:sym typeface="Roboto Mono"/>
              </a:rPr>
              <a:t>download_data()</a:t>
            </a:r>
            <a:r>
              <a:rPr lang="en-US" sz="1100">
                <a:latin typeface="Arial"/>
                <a:ea typeface="Arial"/>
                <a:cs typeface="Arial"/>
                <a:sym typeface="Arial"/>
              </a:rPr>
              <a:t> — this goes to Yahoo Finance and pulls daily price data for NIFTY 50, S&amp;P 500, and Gold. We use data from 2007 all the way to 2025 — about 18 years of market history. Then </a:t>
            </a:r>
            <a:r>
              <a:rPr lang="en-US" sz="1100">
                <a:solidFill>
                  <a:srgbClr val="188038"/>
                </a:solidFill>
                <a:latin typeface="Roboto Mono"/>
                <a:ea typeface="Roboto Mono"/>
                <a:cs typeface="Roboto Mono"/>
                <a:sym typeface="Roboto Mono"/>
              </a:rPr>
              <a:t>ewma_vol()</a:t>
            </a:r>
            <a:r>
              <a:rPr lang="en-US" sz="1100">
                <a:latin typeface="Arial"/>
                <a:ea typeface="Arial"/>
                <a:cs typeface="Arial"/>
                <a:sym typeface="Arial"/>
              </a:rPr>
              <a:t> takes that raw price data and computes the EWMA volatility for each asset — basically how volatile each market is on a given day, giving more weight to recent price movements. And then </a:t>
            </a:r>
            <a:r>
              <a:rPr lang="en-US" sz="1100">
                <a:solidFill>
                  <a:srgbClr val="188038"/>
                </a:solidFill>
                <a:latin typeface="Roboto Mono"/>
                <a:ea typeface="Roboto Mono"/>
                <a:cs typeface="Roboto Mono"/>
                <a:sym typeface="Roboto Mono"/>
              </a:rPr>
              <a:t>prepare()</a:t>
            </a:r>
            <a:r>
              <a:rPr lang="en-US" sz="1100">
                <a:latin typeface="Arial"/>
                <a:ea typeface="Arial"/>
                <a:cs typeface="Arial"/>
                <a:sym typeface="Arial"/>
              </a:rPr>
              <a:t> applies our Peaks-Over-Threshold filter — it keeps only the really bad days where NIFTY fell more than 2% — and builds our design matrix. That design matrix has 4 columns — one intercept and three volatility measures — one for NIFTY, one for S&amp;P 500, and one for Gold.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Next, </a:t>
            </a:r>
            <a:r>
              <a:rPr b="1" lang="en-US" sz="1100">
                <a:latin typeface="Arial"/>
                <a:ea typeface="Arial"/>
                <a:cs typeface="Arial"/>
                <a:sym typeface="Arial"/>
              </a:rPr>
              <a:t>Priors</a:t>
            </a:r>
            <a:r>
              <a:rPr lang="en-US" sz="1100">
                <a:latin typeface="Arial"/>
                <a:ea typeface="Arial"/>
                <a:cs typeface="Arial"/>
                <a:sym typeface="Arial"/>
              </a:rPr>
              <a:t> — in M3 there are none. We are doing completely pure data-driven estimation. No assumptions about parameters whatsoever.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Then the </a:t>
            </a:r>
            <a:r>
              <a:rPr b="1" lang="en-US" sz="1100">
                <a:latin typeface="Arial"/>
                <a:ea typeface="Arial"/>
                <a:cs typeface="Arial"/>
                <a:sym typeface="Arial"/>
              </a:rPr>
              <a:t>Model Definition</a:t>
            </a:r>
            <a:r>
              <a:rPr lang="en-US" sz="1100">
                <a:latin typeface="Arial"/>
                <a:ea typeface="Arial"/>
                <a:cs typeface="Arial"/>
                <a:sym typeface="Arial"/>
              </a:rPr>
              <a:t>. We have </a:t>
            </a:r>
            <a:r>
              <a:rPr lang="en-US" sz="1100">
                <a:solidFill>
                  <a:srgbClr val="188038"/>
                </a:solidFill>
                <a:latin typeface="Roboto Mono"/>
                <a:ea typeface="Roboto Mono"/>
                <a:cs typeface="Roboto Mono"/>
                <a:sym typeface="Roboto Mono"/>
              </a:rPr>
              <a:t>negll()</a:t>
            </a:r>
            <a:r>
              <a:rPr lang="en-US" sz="1100">
                <a:latin typeface="Arial"/>
                <a:ea typeface="Arial"/>
                <a:cs typeface="Arial"/>
                <a:sym typeface="Arial"/>
              </a:rPr>
              <a:t> which computes the negative log-likelihood. This function essentially measures — given a set of parameters, how well do they explain the tail losses we observed? The better the fit, the lower the value.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And finally </a:t>
            </a:r>
            <a:r>
              <a:rPr b="1" lang="en-US" sz="1100">
                <a:latin typeface="Arial"/>
                <a:ea typeface="Arial"/>
                <a:cs typeface="Arial"/>
                <a:sym typeface="Arial"/>
              </a:rPr>
              <a:t>Parameter Estimation</a:t>
            </a:r>
            <a:r>
              <a:rPr lang="en-US" sz="1100">
                <a:latin typeface="Arial"/>
                <a:ea typeface="Arial"/>
                <a:cs typeface="Arial"/>
                <a:sym typeface="Arial"/>
              </a:rPr>
              <a:t> using </a:t>
            </a:r>
            <a:r>
              <a:rPr lang="en-US" sz="1100">
                <a:solidFill>
                  <a:srgbClr val="188038"/>
                </a:solidFill>
                <a:latin typeface="Roboto Mono"/>
                <a:ea typeface="Roboto Mono"/>
                <a:cs typeface="Roboto Mono"/>
                <a:sym typeface="Roboto Mono"/>
              </a:rPr>
              <a:t>fit_mle()</a:t>
            </a:r>
            <a:r>
              <a:rPr lang="en-US" sz="1100">
                <a:latin typeface="Arial"/>
                <a:ea typeface="Arial"/>
                <a:cs typeface="Arial"/>
                <a:sym typeface="Arial"/>
              </a:rPr>
              <a:t>. This function takes our tail losses and our design matrix and runs an optimiser to find the best parameters. It tries thousands of combinations and finds the single set of beta and xi values that best explains the data.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key word here is </a:t>
            </a:r>
            <a:r>
              <a:rPr b="1" lang="en-US" sz="1100">
                <a:latin typeface="Arial"/>
                <a:ea typeface="Arial"/>
                <a:cs typeface="Arial"/>
                <a:sym typeface="Arial"/>
              </a:rPr>
              <a:t>deterministic</a:t>
            </a:r>
            <a:r>
              <a:rPr lang="en-US" sz="1100">
                <a:latin typeface="Arial"/>
                <a:ea typeface="Arial"/>
                <a:cs typeface="Arial"/>
                <a:sym typeface="Arial"/>
              </a:rPr>
              <a:t> — run this code twice with the same data and you get the exact same answer both times. Zero randomness. That is the baseline.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Now — M4 takes this and extends it significantly. Let me show you how."</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75" name="Google Shape;175;g3dcce822e3a_17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dcce822e3a_17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M4 extends M3 in two major ways — more features and regularised estimation through Bayesian priors.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Setup first.</a:t>
            </a:r>
            <a:r>
              <a:rPr lang="en-US" sz="1100">
                <a:latin typeface="Arial"/>
                <a:ea typeface="Arial"/>
                <a:cs typeface="Arial"/>
                <a:sym typeface="Arial"/>
              </a:rPr>
              <a:t> In M3 we computed EWMA volatility. In M4 we add a second type of volatility called Garman-Klass volatility through </a:t>
            </a:r>
            <a:r>
              <a:rPr lang="en-US" sz="1100">
                <a:solidFill>
                  <a:srgbClr val="188038"/>
                </a:solidFill>
                <a:latin typeface="Roboto Mono"/>
                <a:ea typeface="Roboto Mono"/>
                <a:cs typeface="Roboto Mono"/>
                <a:sym typeface="Roboto Mono"/>
              </a:rPr>
              <a:t>garman_klass_vol()</a:t>
            </a:r>
            <a:r>
              <a:rPr lang="en-US" sz="1100">
                <a:latin typeface="Arial"/>
                <a:ea typeface="Arial"/>
                <a:cs typeface="Arial"/>
                <a:sym typeface="Arial"/>
              </a:rPr>
              <a:t>. The difference is that EWMA only looks at how prices closed each day. Garman-Klass looks at the entire day — the highest point, the lowest point, where it opened, where it closed. So it gives a richer, more complete picture of how wild the market was on any given day. Because of this extra feature, our design matrix grows from 4 columns in M3 to 7 columns in M4 — we now have both types of volatility for all three assets.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Now the most important part — </a:t>
            </a:r>
            <a:r>
              <a:rPr b="1" lang="en-US" sz="1100">
                <a:latin typeface="Arial"/>
                <a:ea typeface="Arial"/>
                <a:cs typeface="Arial"/>
                <a:sym typeface="Arial"/>
              </a:rPr>
              <a:t>Priors</a:t>
            </a:r>
            <a:r>
              <a:rPr lang="en-US" sz="1100">
                <a:latin typeface="Arial"/>
                <a:ea typeface="Arial"/>
                <a:cs typeface="Arial"/>
                <a:sym typeface="Arial"/>
              </a:rPr>
              <a:t>. This is what makes M4 fundamentally different from M3.</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M3 we had no prior — just the data. In M4 we introduce prior beliefs about what reasonable parameter values look like. We implemented four different priors, each representing a different assumption.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Cauchy prior</a:t>
            </a:r>
            <a:r>
              <a:rPr lang="en-US" sz="1100">
                <a:latin typeface="Arial"/>
                <a:ea typeface="Arial"/>
                <a:cs typeface="Arial"/>
                <a:sym typeface="Arial"/>
              </a:rPr>
              <a:t> through </a:t>
            </a:r>
            <a:r>
              <a:rPr lang="en-US" sz="1100">
                <a:solidFill>
                  <a:srgbClr val="188038"/>
                </a:solidFill>
                <a:latin typeface="Roboto Mono"/>
                <a:ea typeface="Roboto Mono"/>
                <a:cs typeface="Roboto Mono"/>
                <a:sym typeface="Roboto Mono"/>
              </a:rPr>
              <a:t>nlp_cauchy()</a:t>
            </a:r>
            <a:r>
              <a:rPr lang="en-US" sz="1100">
                <a:latin typeface="Arial"/>
                <a:ea typeface="Arial"/>
                <a:cs typeface="Arial"/>
                <a:sym typeface="Arial"/>
              </a:rPr>
              <a:t> — this is the heavy-tailed prior. Think of it as saying — we believe the coefficients could be large or small, we are not going to restrict them too much. This is the robust choice. It is the one Das (2025) recommends and it is our main Bayesian method.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Lasso prior</a:t>
            </a:r>
            <a:r>
              <a:rPr lang="en-US" sz="1100">
                <a:latin typeface="Arial"/>
                <a:ea typeface="Arial"/>
                <a:cs typeface="Arial"/>
                <a:sym typeface="Arial"/>
              </a:rPr>
              <a:t> through </a:t>
            </a:r>
            <a:r>
              <a:rPr lang="en-US" sz="1100">
                <a:solidFill>
                  <a:srgbClr val="188038"/>
                </a:solidFill>
                <a:latin typeface="Roboto Mono"/>
                <a:ea typeface="Roboto Mono"/>
                <a:cs typeface="Roboto Mono"/>
                <a:sym typeface="Roboto Mono"/>
              </a:rPr>
              <a:t>nlp_lasso()</a:t>
            </a:r>
            <a:r>
              <a:rPr lang="en-US" sz="1100">
                <a:latin typeface="Arial"/>
                <a:ea typeface="Arial"/>
                <a:cs typeface="Arial"/>
                <a:sym typeface="Arial"/>
              </a:rPr>
              <a:t> — this one promotes sparsity. It has a tendency to push small coefficients all the way to zero. So if Gold volatility turns out to not really matter for predicting crashes, Lasso can completely remove it from the model automatically.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Ridge prior</a:t>
            </a:r>
            <a:r>
              <a:rPr lang="en-US" sz="1100">
                <a:latin typeface="Arial"/>
                <a:ea typeface="Arial"/>
                <a:cs typeface="Arial"/>
                <a:sym typeface="Arial"/>
              </a:rPr>
              <a:t> through </a:t>
            </a:r>
            <a:r>
              <a:rPr lang="en-US" sz="1100">
                <a:solidFill>
                  <a:srgbClr val="188038"/>
                </a:solidFill>
                <a:latin typeface="Roboto Mono"/>
                <a:ea typeface="Roboto Mono"/>
                <a:cs typeface="Roboto Mono"/>
                <a:sym typeface="Roboto Mono"/>
              </a:rPr>
              <a:t>nlp_ridge()</a:t>
            </a:r>
            <a:r>
              <a:rPr lang="en-US" sz="1100">
                <a:latin typeface="Arial"/>
                <a:ea typeface="Arial"/>
                <a:cs typeface="Arial"/>
                <a:sym typeface="Arial"/>
              </a:rPr>
              <a:t> — this one shrinks all coefficients smoothly and uniformly towards zero. Nothing gets removed entirely but everything gets pulled back a little. Good for when you believe all variables matter but want to prevent any one variable from dominating.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g-prior</a:t>
            </a:r>
            <a:r>
              <a:rPr lang="en-US" sz="1100">
                <a:latin typeface="Arial"/>
                <a:ea typeface="Arial"/>
                <a:cs typeface="Arial"/>
                <a:sym typeface="Arial"/>
              </a:rPr>
              <a:t> through </a:t>
            </a:r>
            <a:r>
              <a:rPr lang="en-US" sz="1100">
                <a:solidFill>
                  <a:srgbClr val="188038"/>
                </a:solidFill>
                <a:latin typeface="Roboto Mono"/>
                <a:ea typeface="Roboto Mono"/>
                <a:cs typeface="Roboto Mono"/>
                <a:sym typeface="Roboto Mono"/>
              </a:rPr>
              <a:t>nlp_gprior()</a:t>
            </a:r>
            <a:r>
              <a:rPr lang="en-US" sz="1100">
                <a:latin typeface="Arial"/>
                <a:ea typeface="Arial"/>
                <a:cs typeface="Arial"/>
                <a:sym typeface="Arial"/>
              </a:rPr>
              <a:t> — this is the most data-driven one. Its structure actually adapts based on the correlations in your data. So it is learning the right amount of regularisation from the data itself.</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a:t>
            </a:r>
            <a:r>
              <a:rPr b="1" lang="en-US" sz="1100">
                <a:latin typeface="Arial"/>
                <a:ea typeface="Arial"/>
                <a:cs typeface="Arial"/>
                <a:sym typeface="Arial"/>
              </a:rPr>
              <a:t>Parameter Estimation</a:t>
            </a:r>
            <a:r>
              <a:rPr lang="en-US" sz="1100">
                <a:latin typeface="Arial"/>
                <a:ea typeface="Arial"/>
                <a:cs typeface="Arial"/>
                <a:sym typeface="Arial"/>
              </a:rPr>
              <a:t>, each prior has its own fitting function — </a:t>
            </a:r>
            <a:r>
              <a:rPr lang="en-US" sz="1100">
                <a:solidFill>
                  <a:srgbClr val="188038"/>
                </a:solidFill>
                <a:latin typeface="Roboto Mono"/>
                <a:ea typeface="Roboto Mono"/>
                <a:cs typeface="Roboto Mono"/>
                <a:sym typeface="Roboto Mono"/>
              </a:rPr>
              <a:t>fit_cauchy()</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fit_lasso()</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fit_ridge()</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fit_gprior()</a:t>
            </a:r>
            <a:r>
              <a:rPr lang="en-US" sz="1100">
                <a:latin typeface="Arial"/>
                <a:ea typeface="Arial"/>
                <a:cs typeface="Arial"/>
                <a:sym typeface="Arial"/>
              </a:rPr>
              <a:t>. And importantly, all of them start from the MLE solution we found in M3. So M4 does not throw away M3's work — it uses it as the starting point and improves from there.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a:t>
            </a:r>
            <a:r>
              <a:rPr b="1" lang="en-US" sz="1100">
                <a:latin typeface="Arial"/>
                <a:ea typeface="Arial"/>
                <a:cs typeface="Arial"/>
                <a:sym typeface="Arial"/>
              </a:rPr>
              <a:t>Model Selection</a:t>
            </a:r>
            <a:r>
              <a:rPr lang="en-US" sz="1100">
                <a:latin typeface="Arial"/>
                <a:ea typeface="Arial"/>
                <a:cs typeface="Arial"/>
                <a:sym typeface="Arial"/>
              </a:rPr>
              <a:t>, Lasso, Ridge, and g-prior all have a tuning parameter. We use cross-validation functions — </a:t>
            </a:r>
            <a:r>
              <a:rPr lang="en-US" sz="1100">
                <a:solidFill>
                  <a:srgbClr val="188038"/>
                </a:solidFill>
                <a:latin typeface="Roboto Mono"/>
                <a:ea typeface="Roboto Mono"/>
                <a:cs typeface="Roboto Mono"/>
                <a:sym typeface="Roboto Mono"/>
              </a:rPr>
              <a:t>cv_*()</a:t>
            </a:r>
            <a:r>
              <a:rPr lang="en-US" sz="1100">
                <a:latin typeface="Arial"/>
                <a:ea typeface="Arial"/>
                <a:cs typeface="Arial"/>
                <a:sym typeface="Arial"/>
              </a:rPr>
              <a:t> — to automatically find the best value through 5-fold cross-validation.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output is multiple estimates — one set of parameters per prior — so we can directly compare which approach works best.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Now the question is — how do we actually test and validate all of this? That is the simulation study. Let me show you the deterministic pipeline first."</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184" name="Google Shape;184;g3dcce822e3a_17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dfbb4dd89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simulation study is our primary mechanism for validating the implementation. The principle is straightforward — by generating synthetic data with known true parameters, we can objectively measure how accurately each method recovers those parameters. This slide illustrates the deterministic simulation pipeline for Milestone 3.</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Reading through the diagram from left to right.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far left is the </a:t>
            </a:r>
            <a:r>
              <a:rPr b="1" lang="en-US" sz="1100">
                <a:latin typeface="Arial"/>
                <a:ea typeface="Arial"/>
                <a:cs typeface="Arial"/>
                <a:sym typeface="Arial"/>
              </a:rPr>
              <a:t>Setup</a:t>
            </a:r>
            <a:r>
              <a:rPr lang="en-US" sz="1100">
                <a:latin typeface="Arial"/>
                <a:ea typeface="Arial"/>
                <a:cs typeface="Arial"/>
                <a:sym typeface="Arial"/>
              </a:rPr>
              <a:t> box. This defines the configuration: the function </a:t>
            </a:r>
            <a:r>
              <a:rPr lang="en-US" sz="1100">
                <a:solidFill>
                  <a:srgbClr val="188038"/>
                </a:solidFill>
                <a:latin typeface="Roboto Mono"/>
                <a:ea typeface="Roboto Mono"/>
                <a:cs typeface="Roboto Mono"/>
                <a:sym typeface="Roboto Mono"/>
              </a:rPr>
              <a:t>run_simulation()</a:t>
            </a:r>
            <a:r>
              <a:rPr lang="en-US" sz="1100">
                <a:latin typeface="Arial"/>
                <a:ea typeface="Arial"/>
                <a:cs typeface="Arial"/>
                <a:sym typeface="Arial"/>
              </a:rPr>
              <a:t>, and three parameters — N, the number of independent simulation runs; n, the number of observations per run; and p, the number of covariates.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large central box represents the </a:t>
            </a:r>
            <a:r>
              <a:rPr b="1" lang="en-US" sz="1100">
                <a:latin typeface="Arial"/>
                <a:ea typeface="Arial"/>
                <a:cs typeface="Arial"/>
                <a:sym typeface="Arial"/>
              </a:rPr>
              <a:t>Simulation Execution loop</a:t>
            </a:r>
            <a:r>
              <a:rPr lang="en-US" sz="1100">
                <a:latin typeface="Arial"/>
                <a:ea typeface="Arial"/>
                <a:cs typeface="Arial"/>
                <a:sym typeface="Arial"/>
              </a:rPr>
              <a:t>, which iterates N times. The circular arrow at the top indicates that upon completing one iteration, the process returns to the beginning with a completely fresh dataset. Each run is entirely independent of the others.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Inside the loop, the first operation in each run is </a:t>
            </a:r>
            <a:r>
              <a:rPr b="1" lang="en-US" sz="1100">
                <a:latin typeface="Arial"/>
                <a:ea typeface="Arial"/>
                <a:cs typeface="Arial"/>
                <a:sym typeface="Arial"/>
              </a:rPr>
              <a:t>Data Generation</a:t>
            </a:r>
            <a:r>
              <a:rPr lang="en-US" sz="1100">
                <a:latin typeface="Arial"/>
                <a:ea typeface="Arial"/>
                <a:cs typeface="Arial"/>
                <a:sym typeface="Arial"/>
              </a:rPr>
              <a:t>. A new design matrix is generated, true parameter values for beta and xi are randomly sampled from their respective distributions, the true GPD scale is computed from those parameters, and the tail loss observations are generated accordingly. The key point is that because we selected the true parameters ourselves, we have a precise benchmark against which to evaluate the estimated values.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generated data flows into </a:t>
            </a:r>
            <a:r>
              <a:rPr b="1" lang="en-US" sz="1100">
                <a:latin typeface="Arial"/>
                <a:ea typeface="Arial"/>
                <a:cs typeface="Arial"/>
                <a:sym typeface="Arial"/>
              </a:rPr>
              <a:t>Model Fitting</a:t>
            </a:r>
            <a:r>
              <a:rPr lang="en-US" sz="1100">
                <a:latin typeface="Arial"/>
                <a:ea typeface="Arial"/>
                <a:cs typeface="Arial"/>
                <a:sym typeface="Arial"/>
              </a:rPr>
              <a:t>, where </a:t>
            </a:r>
            <a:r>
              <a:rPr lang="en-US" sz="1100">
                <a:solidFill>
                  <a:srgbClr val="188038"/>
                </a:solidFill>
                <a:latin typeface="Roboto Mono"/>
                <a:ea typeface="Roboto Mono"/>
                <a:cs typeface="Roboto Mono"/>
                <a:sym typeface="Roboto Mono"/>
              </a:rPr>
              <a:t>fit_mle()</a:t>
            </a:r>
            <a:r>
              <a:rPr lang="en-US" sz="1100">
                <a:latin typeface="Arial"/>
                <a:ea typeface="Arial"/>
                <a:cs typeface="Arial"/>
                <a:sym typeface="Arial"/>
              </a:rPr>
              <a:t> is applied — the same L-BFGS-B optimiser with Nelder-Mead fallback from the Milestone 3 code. The output is the estimated beta hat and xi hat for that run.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estimates are passed to </a:t>
            </a:r>
            <a:r>
              <a:rPr b="1" lang="en-US" sz="1100">
                <a:latin typeface="Arial"/>
                <a:ea typeface="Arial"/>
                <a:cs typeface="Arial"/>
                <a:sym typeface="Arial"/>
              </a:rPr>
              <a:t>Store Estimates</a:t>
            </a:r>
            <a:r>
              <a:rPr lang="en-US" sz="1100">
                <a:latin typeface="Arial"/>
                <a:ea typeface="Arial"/>
                <a:cs typeface="Arial"/>
                <a:sym typeface="Arial"/>
              </a:rPr>
              <a:t>, where they are recorded. The loop then resets and proceeds with an entirely new dataset for the next run.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Once all N runs are complete, the </a:t>
            </a:r>
            <a:r>
              <a:rPr b="1" lang="en-US" sz="1100">
                <a:latin typeface="Arial"/>
                <a:ea typeface="Arial"/>
                <a:cs typeface="Arial"/>
                <a:sym typeface="Arial"/>
              </a:rPr>
              <a:t>Evaluation</a:t>
            </a:r>
            <a:r>
              <a:rPr lang="en-US" sz="1100">
                <a:latin typeface="Arial"/>
                <a:ea typeface="Arial"/>
                <a:cs typeface="Arial"/>
                <a:sym typeface="Arial"/>
              </a:rPr>
              <a:t> step on the right aggregates results across all runs. Five metrics are computed: RMSE(β) measures coefficient recovery accuracy; RMSE(ξ) measures shape parameter recovery; RMSE(y) measures prediction error on a held-out portion of the data; and AIC and BIC evaluate model fit with complexity penalties. All metrics are aggregated — typically as medians — across the N runs to ensure robust, stable conclusions.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rationale for running N independent iterations rather than a single run is important. Any individual run may produce results that are uncharacteristically favourable or unfavourable due to the randomness in data generation. By aggregating across N runs, we obtain a statistically reliable characterisation of MLE's average performance.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completes the deterministic pipeline. Let me now demonstrate how it is modified for the randomised Milestone 4 simulation."</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193" name="Google Shape;193;g3ddfbb4dd89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dfbb4dd89_1_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is the Milestone 4 simulation pipeline. Structurally it mirrors the Milestone 3 pipeline — the same four-box layout and the same left-to-right progression. However, every component contains substantive differences that reflect the expanded scope of Milestone 4.</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Beginning with </a:t>
            </a:r>
            <a:r>
              <a:rPr b="1" lang="en-US" sz="1100">
                <a:latin typeface="Arial"/>
                <a:ea typeface="Arial"/>
                <a:cs typeface="Arial"/>
                <a:sym typeface="Arial"/>
              </a:rPr>
              <a:t>Setup</a:t>
            </a:r>
            <a:r>
              <a:rPr lang="en-US" sz="1100">
                <a:latin typeface="Arial"/>
                <a:ea typeface="Arial"/>
                <a:cs typeface="Arial"/>
                <a:sym typeface="Arial"/>
              </a:rPr>
              <a:t>. The function is </a:t>
            </a:r>
            <a:r>
              <a:rPr lang="en-US" sz="1100">
                <a:solidFill>
                  <a:srgbClr val="188038"/>
                </a:solidFill>
                <a:latin typeface="Roboto Mono"/>
                <a:ea typeface="Roboto Mono"/>
                <a:cs typeface="Roboto Mono"/>
                <a:sym typeface="Roboto Mono"/>
              </a:rPr>
              <a:t>run_simulation_m4()</a:t>
            </a:r>
            <a:r>
              <a:rPr lang="en-US" sz="1100">
                <a:latin typeface="Arial"/>
                <a:ea typeface="Arial"/>
                <a:cs typeface="Arial"/>
                <a:sym typeface="Arial"/>
              </a:rPr>
              <a:t>. We maintain N=100 runs and n=100 observations per run, comparable to Milestone 3. However, p is now set to 5 covariates. Most significantly, we are now running five methods simultaneously within each simulation run — MLE, Cauchy, Lasso, Ridge, and g-prior. This means every single run produces five sets of parameter estimates, one per method.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t>
            </a:r>
            <a:r>
              <a:rPr b="1" lang="en-US" sz="1100">
                <a:latin typeface="Arial"/>
                <a:ea typeface="Arial"/>
                <a:cs typeface="Arial"/>
                <a:sym typeface="Arial"/>
              </a:rPr>
              <a:t>Simulation Execution</a:t>
            </a:r>
            <a:r>
              <a:rPr lang="en-US" sz="1100">
                <a:latin typeface="Arial"/>
                <a:ea typeface="Arial"/>
                <a:cs typeface="Arial"/>
                <a:sym typeface="Arial"/>
              </a:rPr>
              <a:t> is explicitly labelled as Monte Carlo, N=100. The distinction between Monte Carlo and a simple loop is intentional. In Milestone 3, we iterated to build statistical confidence in MLE's performance in absolute terms. In Milestone 4, the Monte Carlo framework serves a comparative purpose — by evaluating all five methods across 100 independently generated datasets, we can draw statistically robust conclusions about their relative performance under varying data conditions.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Data Generation</a:t>
            </a:r>
            <a:r>
              <a:rPr lang="en-US" sz="1100">
                <a:latin typeface="Arial"/>
                <a:ea typeface="Arial"/>
                <a:cs typeface="Arial"/>
                <a:sym typeface="Arial"/>
              </a:rPr>
              <a:t> is kept identical to Milestone 3. The same distributions are used — the same design matrix generation, the same parameter sampling, the same GPD response generation. This is a deliberate design decision. If the data generation process differed between the two simulations, any observed performance differences could be attributed to data variation rather than the methods themselves. By keeping generation identical, we ensure the comparison is controlled and fair.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Model Fitting</a:t>
            </a:r>
            <a:r>
              <a:rPr lang="en-US" sz="1100">
                <a:latin typeface="Arial"/>
                <a:ea typeface="Arial"/>
                <a:cs typeface="Arial"/>
                <a:sym typeface="Arial"/>
              </a:rPr>
              <a:t> is where Milestone 4 diverges fundamentally from Milestone 3. There are three critical points highlighted on this slide.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First — all five methods are fitted on the </a:t>
            </a:r>
            <a:r>
              <a:rPr b="1" lang="en-US" sz="1100">
                <a:latin typeface="Arial"/>
                <a:ea typeface="Arial"/>
                <a:cs typeface="Arial"/>
                <a:sym typeface="Arial"/>
              </a:rPr>
              <a:t>full dataset</a:t>
            </a:r>
            <a:r>
              <a:rPr lang="en-US" sz="1100">
                <a:latin typeface="Arial"/>
                <a:ea typeface="Arial"/>
                <a:cs typeface="Arial"/>
                <a:sym typeface="Arial"/>
              </a:rPr>
              <a:t> without a train/test split. This is an intentional methodological choice for this particular study. Our objective here is to measure estimation accuracy — specifically, how well each method recovers the known true parameters beta and xi. For this purpose, maximising the number of observations available for fitting is the correct approach. Introducing a train/test split would reduce the estimation sample and introduce additional variance into the comparison.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Second — the </a:t>
            </a:r>
            <a:r>
              <a:rPr b="1" lang="en-US" sz="1100">
                <a:latin typeface="Arial"/>
                <a:ea typeface="Arial"/>
                <a:cs typeface="Arial"/>
                <a:sym typeface="Arial"/>
              </a:rPr>
              <a:t>Posterior Objective</a:t>
            </a:r>
            <a:r>
              <a:rPr lang="en-US" sz="1100">
                <a:latin typeface="Arial"/>
                <a:ea typeface="Arial"/>
                <a:cs typeface="Arial"/>
                <a:sym typeface="Arial"/>
              </a:rPr>
              <a:t> for the four Bayesian methods is the log-likelihood combined with the log-prior. This is the defining distinction from MLE — the Bayesian methods incorporate prior beliefs into the estimation, which regularises the parameter estimates and guards against overfitting on limited tail data.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Third — and this is the most important condition for methodological rigour — the </a:t>
            </a:r>
            <a:r>
              <a:rPr b="1" lang="en-US" sz="1100">
                <a:latin typeface="Arial"/>
                <a:ea typeface="Arial"/>
                <a:cs typeface="Arial"/>
                <a:sym typeface="Arial"/>
              </a:rPr>
              <a:t>same dataset is used for all five methods</a:t>
            </a:r>
            <a:r>
              <a:rPr lang="en-US" sz="1100">
                <a:latin typeface="Arial"/>
                <a:ea typeface="Arial"/>
                <a:cs typeface="Arial"/>
                <a:sym typeface="Arial"/>
              </a:rPr>
              <a:t> within each simulation run. Every method receives exactly the same observations in every run. This eliminates data variability as a confounding factor and ensures that any observed performance differences are attributable solely to the estimation method, not to random variation in the data.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Evaluation</a:t>
            </a:r>
            <a:r>
              <a:rPr lang="en-US" sz="1100">
                <a:latin typeface="Arial"/>
                <a:ea typeface="Arial"/>
                <a:cs typeface="Arial"/>
                <a:sym typeface="Arial"/>
              </a:rPr>
              <a:t> on the right computes RMSE(β), RMSE(ξ), RMSE(y), AIC, and BIC. One important technical consideration — AIC and BIC are computed from the likelihood alone, deliberately excluding the prior. The reason is methodological fairness. If the prior were included in the information criteria, methods with more informative priors would appear to have lower complexity even when their likelihood fit is no better. Using likelihood-only AIC and BIC ensures all five methods are evaluated on the same basis. Results are computed per method first and then aggregated across all 100 Monte Carlo runs.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summarise the distinction between the two simulations concisely — the Milestone 3 simulation validates MLE's absolute performance by testing it across N independently generated datasets. The Milestone 4 simulation conducts a rigorous comparative evaluation of five methods by testing them simultaneously on identical data across 100 Monte Carlo runs, providing statistically credible evidence for which estimation approach is most appropriate for this problem</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200" name="Google Shape;200;g3ddfbb4dd89_1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cc36c2f29_17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dcc36c2f29_17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dcc36c2f29_17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cc36c2f29_17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dcc36c2f29_17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dcc36c2f29_17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cc21a211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dcc21a211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dcc21a211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cce822e3a_17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cce822e3a_17_1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3dcce822e3a_17_1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dfbb4dd89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ddfbb4dd89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g3ddfbb4dd89_0_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dfbb4dd89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dfbb4dd89_0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g3ddfbb4dd89_0_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cc36c2f29_17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dcc36c2f29_17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dcc36c2f29_17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2"/>
        </a:solidFill>
      </p:bgPr>
    </p:bg>
    <p:spTree>
      <p:nvGrpSpPr>
        <p:cNvPr id="18" name="Shape 18"/>
        <p:cNvGrpSpPr/>
        <p:nvPr/>
      </p:nvGrpSpPr>
      <p:grpSpPr>
        <a:xfrm>
          <a:off x="0" y="0"/>
          <a:ext cx="0" cy="0"/>
          <a:chOff x="0" y="0"/>
          <a:chExt cx="0" cy="0"/>
        </a:xfrm>
      </p:grpSpPr>
      <p:sp>
        <p:nvSpPr>
          <p:cNvPr id="19" name="Google Shape;19;p2"/>
          <p:cNvSpPr txBox="1"/>
          <p:nvPr>
            <p:ph idx="1" type="body"/>
          </p:nvPr>
        </p:nvSpPr>
        <p:spPr>
          <a:xfrm>
            <a:off x="844150" y="4710224"/>
            <a:ext cx="10515601" cy="552037"/>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444848"/>
              </a:buClr>
              <a:buSzPts val="2000"/>
              <a:buFont typeface="Helvetica Neue Light"/>
              <a:buNone/>
              <a:defRPr b="0" i="0" sz="2000">
                <a:solidFill>
                  <a:srgbClr val="444848"/>
                </a:solidFill>
                <a:latin typeface="Helvetica Neue Light"/>
                <a:ea typeface="Helvetica Neue Light"/>
                <a:cs typeface="Helvetica Neue Light"/>
                <a:sym typeface="Helvetica Neue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0" name="Google Shape;20;p2"/>
          <p:cNvPicPr preferRelativeResize="0"/>
          <p:nvPr/>
        </p:nvPicPr>
        <p:blipFill rotWithShape="1">
          <a:blip r:embed="rId2">
            <a:alphaModFix/>
          </a:blip>
          <a:srcRect b="42109" l="31991" r="32034" t="42026"/>
          <a:stretch/>
        </p:blipFill>
        <p:spPr>
          <a:xfrm>
            <a:off x="7430948" y="751519"/>
            <a:ext cx="3928803" cy="1333239"/>
          </a:xfrm>
          <a:prstGeom prst="rect">
            <a:avLst/>
          </a:prstGeom>
          <a:noFill/>
          <a:ln>
            <a:noFill/>
          </a:ln>
        </p:spPr>
      </p:pic>
      <p:sp>
        <p:nvSpPr>
          <p:cNvPr id="21" name="Google Shape;21;p2"/>
          <p:cNvSpPr txBox="1"/>
          <p:nvPr>
            <p:ph idx="2" type="body"/>
          </p:nvPr>
        </p:nvSpPr>
        <p:spPr>
          <a:xfrm>
            <a:off x="844150" y="3784993"/>
            <a:ext cx="10516000" cy="9017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4400"/>
              <a:buFont typeface="Helvetica Neue"/>
              <a:buNone/>
              <a:defRPr b="1" i="0" sz="4400">
                <a:solidFill>
                  <a:schemeClr val="dk2"/>
                </a:solidFill>
                <a:latin typeface="Helvetica Neue"/>
                <a:ea typeface="Helvetica Neue"/>
                <a:cs typeface="Helvetica Neue"/>
                <a:sym typeface="Helvetica Neu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2"/>
              </a:buClr>
              <a:buSzPts val="3600"/>
              <a:buFont typeface="Helvetica Neue"/>
              <a:buNone/>
              <a:defRPr sz="3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000"/>
              <a:buFont typeface="Helvetica Neue Light"/>
              <a:buNone/>
              <a:defRPr b="0" i="0" sz="2000">
                <a:solidFill>
                  <a:srgbClr val="888888"/>
                </a:solidFill>
                <a:latin typeface="Helvetica Neue Light"/>
                <a:ea typeface="Helvetica Neue Light"/>
                <a:cs typeface="Helvetica Neue Light"/>
                <a:sym typeface="Helvetica Neue Light"/>
              </a:defRPr>
            </a:lvl1pPr>
            <a:lvl2pPr indent="-228600" lvl="1" marL="914400" algn="l">
              <a:lnSpc>
                <a:spcPct val="90000"/>
              </a:lnSpc>
              <a:spcBef>
                <a:spcPts val="500"/>
              </a:spcBef>
              <a:spcAft>
                <a:spcPts val="0"/>
              </a:spcAft>
              <a:buClr>
                <a:srgbClr val="888888"/>
              </a:buClr>
              <a:buSzPts val="2000"/>
              <a:buFont typeface="Helvetica Neue Light"/>
              <a:buNone/>
              <a:defRPr sz="2000">
                <a:solidFill>
                  <a:srgbClr val="888888"/>
                </a:solidFill>
              </a:defRPr>
            </a:lvl2pPr>
            <a:lvl3pPr indent="-228600" lvl="2" marL="1371600" algn="l">
              <a:lnSpc>
                <a:spcPct val="90000"/>
              </a:lnSpc>
              <a:spcBef>
                <a:spcPts val="500"/>
              </a:spcBef>
              <a:spcAft>
                <a:spcPts val="0"/>
              </a:spcAft>
              <a:buClr>
                <a:srgbClr val="888888"/>
              </a:buClr>
              <a:buSzPts val="1800"/>
              <a:buFont typeface="Helvetica Neue Light"/>
              <a:buNone/>
              <a:defRPr sz="1800">
                <a:solidFill>
                  <a:srgbClr val="888888"/>
                </a:solidFill>
              </a:defRPr>
            </a:lvl3pPr>
            <a:lvl4pPr indent="-228600" lvl="3" marL="1828800" algn="l">
              <a:lnSpc>
                <a:spcPct val="90000"/>
              </a:lnSpc>
              <a:spcBef>
                <a:spcPts val="500"/>
              </a:spcBef>
              <a:spcAft>
                <a:spcPts val="0"/>
              </a:spcAft>
              <a:buClr>
                <a:srgbClr val="888888"/>
              </a:buClr>
              <a:buSzPts val="1600"/>
              <a:buFont typeface="Helvetica Neue Light"/>
              <a:buNone/>
              <a:defRPr sz="1600">
                <a:solidFill>
                  <a:srgbClr val="888888"/>
                </a:solidFill>
              </a:defRPr>
            </a:lvl4pPr>
            <a:lvl5pPr indent="-228600" lvl="4" marL="2286000" algn="l">
              <a:lnSpc>
                <a:spcPct val="90000"/>
              </a:lnSpc>
              <a:spcBef>
                <a:spcPts val="500"/>
              </a:spcBef>
              <a:spcAft>
                <a:spcPts val="0"/>
              </a:spcAft>
              <a:buClr>
                <a:srgbClr val="888888"/>
              </a:buClr>
              <a:buSzPts val="1600"/>
              <a:buFont typeface="Helvetica Neue Light"/>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5" name="Google Shape;25;p3"/>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26" name="Google Shape;26;p3"/>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7" name="Google Shape;27;p3"/>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4"/>
          <p:cNvSpPr txBox="1"/>
          <p:nvPr>
            <p:ph type="title"/>
          </p:nvPr>
        </p:nvSpPr>
        <p:spPr>
          <a:xfrm>
            <a:off x="594303" y="266700"/>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body"/>
          </p:nvPr>
        </p:nvSpPr>
        <p:spPr>
          <a:xfrm>
            <a:off x="582427" y="1768950"/>
            <a:ext cx="1051560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Helvetica Neue Light"/>
              <a:buChar char="•"/>
              <a:defRPr sz="2400"/>
            </a:lvl1pPr>
            <a:lvl2pPr indent="-355600" lvl="1" marL="914400" algn="l">
              <a:lnSpc>
                <a:spcPct val="90000"/>
              </a:lnSpc>
              <a:spcBef>
                <a:spcPts val="500"/>
              </a:spcBef>
              <a:spcAft>
                <a:spcPts val="0"/>
              </a:spcAft>
              <a:buClr>
                <a:schemeClr val="dk1"/>
              </a:buClr>
              <a:buSzPts val="2000"/>
              <a:buFont typeface="Helvetica Neue Light"/>
              <a:buChar char="•"/>
              <a:defRPr sz="2000"/>
            </a:lvl2pPr>
            <a:lvl3pPr indent="-342900" lvl="2" marL="1371600" algn="l">
              <a:lnSpc>
                <a:spcPct val="90000"/>
              </a:lnSpc>
              <a:spcBef>
                <a:spcPts val="500"/>
              </a:spcBef>
              <a:spcAft>
                <a:spcPts val="0"/>
              </a:spcAft>
              <a:buClr>
                <a:schemeClr val="dk1"/>
              </a:buClr>
              <a:buSzPts val="1800"/>
              <a:buFont typeface="Helvetica Neue Light"/>
              <a:buChar char="•"/>
              <a:defRPr sz="1800"/>
            </a:lvl3pPr>
            <a:lvl4pPr indent="-330200" lvl="3" marL="1828800" algn="l">
              <a:lnSpc>
                <a:spcPct val="90000"/>
              </a:lnSpc>
              <a:spcBef>
                <a:spcPts val="500"/>
              </a:spcBef>
              <a:spcAft>
                <a:spcPts val="0"/>
              </a:spcAft>
              <a:buClr>
                <a:schemeClr val="dk1"/>
              </a:buClr>
              <a:buSzPts val="1600"/>
              <a:buFont typeface="Helvetica Neue Light"/>
              <a:buChar char="•"/>
              <a:defRPr sz="1600"/>
            </a:lvl4pPr>
            <a:lvl5pPr indent="-330200" lvl="4" marL="2286000" algn="l">
              <a:lnSpc>
                <a:spcPct val="90000"/>
              </a:lnSpc>
              <a:spcBef>
                <a:spcPts val="500"/>
              </a:spcBef>
              <a:spcAft>
                <a:spcPts val="0"/>
              </a:spcAft>
              <a:buClr>
                <a:schemeClr val="dk1"/>
              </a:buClr>
              <a:buSzPts val="1600"/>
              <a:buFont typeface="Helvetica Neue Light"/>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32" name="Google Shape;32;p4"/>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33" name="Google Shape;33;p4"/>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extLst>
    <p:ext uri="{DCECCB84-F9BA-43D5-87BE-67443E8EF086}">
      <p15:sldGuideLst>
        <p15:guide id="1" orient="horz" pos="73">
          <p15:clr>
            <a:srgbClr val="FBAE40"/>
          </p15:clr>
        </p15:guide>
        <p15:guide id="2" pos="3840">
          <p15:clr>
            <a:srgbClr val="FBAE40"/>
          </p15:clr>
        </p15:guide>
        <p15:guide id="3" orient="horz" pos="4247">
          <p15:clr>
            <a:srgbClr val="FBAE40"/>
          </p15:clr>
        </p15:guide>
        <p15:guide id="4" orient="horz" pos="164">
          <p15:clr>
            <a:srgbClr val="FBAE40"/>
          </p15:clr>
        </p15:guide>
        <p15:guide id="5" orient="horz" pos="1003">
          <p15:clr>
            <a:srgbClr val="FBAE40"/>
          </p15:clr>
        </p15:guide>
        <p15:guide id="6" pos="121">
          <p15:clr>
            <a:srgbClr val="FBAE40"/>
          </p15:clr>
        </p15:guide>
        <p15:guide id="7" pos="370">
          <p15:clr>
            <a:srgbClr val="FBAE40"/>
          </p15:clr>
        </p15:guide>
        <p15:guide id="8" orient="horz" pos="1117">
          <p15:clr>
            <a:srgbClr val="FBAE40"/>
          </p15:clr>
        </p15:guide>
        <p15:guide id="9" pos="6992">
          <p15:clr>
            <a:srgbClr val="FBAE40"/>
          </p15:clr>
        </p15:guide>
        <p15:guide id="10" orient="horz" pos="3861">
          <p15:clr>
            <a:srgbClr val="FBAE40"/>
          </p15:clr>
        </p15:guide>
        <p15:guide id="11" pos="7559">
          <p15:clr>
            <a:srgbClr val="FBAE40"/>
          </p15:clr>
        </p15:guide>
        <p15:guide id="12" orient="horz" pos="3974">
          <p15:clr>
            <a:srgbClr val="FBAE40"/>
          </p15:clr>
        </p15:guide>
        <p15:guide id="13" orient="horz" pos="4201">
          <p15:clr>
            <a:srgbClr val="FBAE40"/>
          </p15:clr>
        </p15:guide>
        <p15:guide id="14" orient="horz" pos="411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5"/>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39" name="Google Shape;39;p5"/>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40" name="Google Shape;40;p5"/>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6"/>
          <p:cNvSpPr txBox="1"/>
          <p:nvPr>
            <p:ph type="title"/>
          </p:nvPr>
        </p:nvSpPr>
        <p:spPr>
          <a:xfrm>
            <a:off x="839788"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Helvetica Neue Light"/>
              <a:buNone/>
              <a:defRPr b="1" sz="2400"/>
            </a:lvl1pPr>
            <a:lvl2pPr indent="-228600" lvl="1" marL="914400" algn="l">
              <a:lnSpc>
                <a:spcPct val="90000"/>
              </a:lnSpc>
              <a:spcBef>
                <a:spcPts val="500"/>
              </a:spcBef>
              <a:spcAft>
                <a:spcPts val="0"/>
              </a:spcAft>
              <a:buClr>
                <a:schemeClr val="dk1"/>
              </a:buClr>
              <a:buSzPts val="2000"/>
              <a:buFont typeface="Helvetica Neue Light"/>
              <a:buNone/>
              <a:defRPr b="1" sz="2000"/>
            </a:lvl2pPr>
            <a:lvl3pPr indent="-228600" lvl="2" marL="1371600" algn="l">
              <a:lnSpc>
                <a:spcPct val="90000"/>
              </a:lnSpc>
              <a:spcBef>
                <a:spcPts val="500"/>
              </a:spcBef>
              <a:spcAft>
                <a:spcPts val="0"/>
              </a:spcAft>
              <a:buClr>
                <a:schemeClr val="dk1"/>
              </a:buClr>
              <a:buSzPts val="1800"/>
              <a:buFont typeface="Helvetica Neue Light"/>
              <a:buNone/>
              <a:defRPr b="1" sz="1800"/>
            </a:lvl3pPr>
            <a:lvl4pPr indent="-228600" lvl="3" marL="1828800" algn="l">
              <a:lnSpc>
                <a:spcPct val="90000"/>
              </a:lnSpc>
              <a:spcBef>
                <a:spcPts val="500"/>
              </a:spcBef>
              <a:spcAft>
                <a:spcPts val="0"/>
              </a:spcAft>
              <a:buClr>
                <a:schemeClr val="dk1"/>
              </a:buClr>
              <a:buSzPts val="1600"/>
              <a:buFont typeface="Helvetica Neue Light"/>
              <a:buNone/>
              <a:defRPr b="1" sz="1600"/>
            </a:lvl4pPr>
            <a:lvl5pPr indent="-228600" lvl="4" marL="2286000" algn="l">
              <a:lnSpc>
                <a:spcPct val="90000"/>
              </a:lnSpc>
              <a:spcBef>
                <a:spcPts val="500"/>
              </a:spcBef>
              <a:spcAft>
                <a:spcPts val="0"/>
              </a:spcAft>
              <a:buClr>
                <a:schemeClr val="dk1"/>
              </a:buClr>
              <a:buSzPts val="1600"/>
              <a:buFont typeface="Helvetica Neue Light"/>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Helvetica Neue Light"/>
              <a:buNone/>
              <a:defRPr b="1" sz="2400"/>
            </a:lvl1pPr>
            <a:lvl2pPr indent="-228600" lvl="1" marL="914400" algn="l">
              <a:lnSpc>
                <a:spcPct val="90000"/>
              </a:lnSpc>
              <a:spcBef>
                <a:spcPts val="500"/>
              </a:spcBef>
              <a:spcAft>
                <a:spcPts val="0"/>
              </a:spcAft>
              <a:buClr>
                <a:schemeClr val="dk1"/>
              </a:buClr>
              <a:buSzPts val="2000"/>
              <a:buFont typeface="Helvetica Neue Light"/>
              <a:buNone/>
              <a:defRPr b="1" sz="2000"/>
            </a:lvl2pPr>
            <a:lvl3pPr indent="-228600" lvl="2" marL="1371600" algn="l">
              <a:lnSpc>
                <a:spcPct val="90000"/>
              </a:lnSpc>
              <a:spcBef>
                <a:spcPts val="500"/>
              </a:spcBef>
              <a:spcAft>
                <a:spcPts val="0"/>
              </a:spcAft>
              <a:buClr>
                <a:schemeClr val="dk1"/>
              </a:buClr>
              <a:buSzPts val="1800"/>
              <a:buFont typeface="Helvetica Neue Light"/>
              <a:buNone/>
              <a:defRPr b="1" sz="1800"/>
            </a:lvl3pPr>
            <a:lvl4pPr indent="-228600" lvl="3" marL="1828800" algn="l">
              <a:lnSpc>
                <a:spcPct val="90000"/>
              </a:lnSpc>
              <a:spcBef>
                <a:spcPts val="500"/>
              </a:spcBef>
              <a:spcAft>
                <a:spcPts val="0"/>
              </a:spcAft>
              <a:buClr>
                <a:schemeClr val="dk1"/>
              </a:buClr>
              <a:buSzPts val="1600"/>
              <a:buFont typeface="Helvetica Neue Light"/>
              <a:buNone/>
              <a:defRPr b="1" sz="1600"/>
            </a:lvl4pPr>
            <a:lvl5pPr indent="-228600" lvl="4" marL="2286000" algn="l">
              <a:lnSpc>
                <a:spcPct val="90000"/>
              </a:lnSpc>
              <a:spcBef>
                <a:spcPts val="500"/>
              </a:spcBef>
              <a:spcAft>
                <a:spcPts val="0"/>
              </a:spcAft>
              <a:buClr>
                <a:schemeClr val="dk1"/>
              </a:buClr>
              <a:buSzPts val="1600"/>
              <a:buFont typeface="Helvetica Neue Light"/>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6"/>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48" name="Google Shape;48;p6"/>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49" name="Google Shape;49;p6"/>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7"/>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53" name="Google Shape;53;p7"/>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54" name="Google Shape;54;p7"/>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8"/>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57" name="Google Shape;57;p8"/>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58" name="Google Shape;58;p8"/>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Helvetica Neu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Font typeface="Helvetica Neue Light"/>
              <a:buChar char="•"/>
              <a:defRPr sz="3200"/>
            </a:lvl1pPr>
            <a:lvl2pPr indent="-406400" lvl="1" marL="914400" algn="l">
              <a:lnSpc>
                <a:spcPct val="90000"/>
              </a:lnSpc>
              <a:spcBef>
                <a:spcPts val="500"/>
              </a:spcBef>
              <a:spcAft>
                <a:spcPts val="0"/>
              </a:spcAft>
              <a:buClr>
                <a:schemeClr val="dk1"/>
              </a:buClr>
              <a:buSzPts val="2800"/>
              <a:buFont typeface="Helvetica Neue Light"/>
              <a:buChar char="•"/>
              <a:defRPr sz="2800"/>
            </a:lvl2pPr>
            <a:lvl3pPr indent="-381000" lvl="2" marL="1371600" algn="l">
              <a:lnSpc>
                <a:spcPct val="90000"/>
              </a:lnSpc>
              <a:spcBef>
                <a:spcPts val="500"/>
              </a:spcBef>
              <a:spcAft>
                <a:spcPts val="0"/>
              </a:spcAft>
              <a:buClr>
                <a:schemeClr val="dk1"/>
              </a:buClr>
              <a:buSzPts val="2400"/>
              <a:buFont typeface="Helvetica Neue Light"/>
              <a:buChar char="•"/>
              <a:defRPr sz="2400"/>
            </a:lvl3pPr>
            <a:lvl4pPr indent="-355600" lvl="3" marL="1828800" algn="l">
              <a:lnSpc>
                <a:spcPct val="90000"/>
              </a:lnSpc>
              <a:spcBef>
                <a:spcPts val="500"/>
              </a:spcBef>
              <a:spcAft>
                <a:spcPts val="0"/>
              </a:spcAft>
              <a:buClr>
                <a:schemeClr val="dk1"/>
              </a:buClr>
              <a:buSzPts val="2000"/>
              <a:buFont typeface="Helvetica Neue Light"/>
              <a:buChar char="•"/>
              <a:defRPr sz="2000"/>
            </a:lvl4pPr>
            <a:lvl5pPr indent="-355600" lvl="4" marL="2286000" algn="l">
              <a:lnSpc>
                <a:spcPct val="90000"/>
              </a:lnSpc>
              <a:spcBef>
                <a:spcPts val="500"/>
              </a:spcBef>
              <a:spcAft>
                <a:spcPts val="0"/>
              </a:spcAft>
              <a:buClr>
                <a:schemeClr val="dk1"/>
              </a:buClr>
              <a:buSzPts val="2000"/>
              <a:buFont typeface="Helvetica Neue Light"/>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Helvetica Neue Light"/>
              <a:buNone/>
              <a:defRPr sz="1600"/>
            </a:lvl1pPr>
            <a:lvl2pPr indent="-228600" lvl="1" marL="914400" algn="l">
              <a:lnSpc>
                <a:spcPct val="90000"/>
              </a:lnSpc>
              <a:spcBef>
                <a:spcPts val="500"/>
              </a:spcBef>
              <a:spcAft>
                <a:spcPts val="0"/>
              </a:spcAft>
              <a:buClr>
                <a:schemeClr val="dk1"/>
              </a:buClr>
              <a:buSzPts val="1400"/>
              <a:buFont typeface="Helvetica Neue Light"/>
              <a:buNone/>
              <a:defRPr sz="1400"/>
            </a:lvl2pPr>
            <a:lvl3pPr indent="-228600" lvl="2" marL="1371600" algn="l">
              <a:lnSpc>
                <a:spcPct val="90000"/>
              </a:lnSpc>
              <a:spcBef>
                <a:spcPts val="500"/>
              </a:spcBef>
              <a:spcAft>
                <a:spcPts val="0"/>
              </a:spcAft>
              <a:buClr>
                <a:schemeClr val="dk1"/>
              </a:buClr>
              <a:buSzPts val="1200"/>
              <a:buFont typeface="Helvetica Neue Light"/>
              <a:buNone/>
              <a:defRPr sz="1200"/>
            </a:lvl3pPr>
            <a:lvl4pPr indent="-228600" lvl="3" marL="1828800" algn="l">
              <a:lnSpc>
                <a:spcPct val="90000"/>
              </a:lnSpc>
              <a:spcBef>
                <a:spcPts val="500"/>
              </a:spcBef>
              <a:spcAft>
                <a:spcPts val="0"/>
              </a:spcAft>
              <a:buClr>
                <a:schemeClr val="dk1"/>
              </a:buClr>
              <a:buSzPts val="1000"/>
              <a:buFont typeface="Helvetica Neue Light"/>
              <a:buNone/>
              <a:defRPr sz="1000"/>
            </a:lvl4pPr>
            <a:lvl5pPr indent="-228600" lvl="4" marL="2286000" algn="l">
              <a:lnSpc>
                <a:spcPct val="90000"/>
              </a:lnSpc>
              <a:spcBef>
                <a:spcPts val="500"/>
              </a:spcBef>
              <a:spcAft>
                <a:spcPts val="0"/>
              </a:spcAft>
              <a:buClr>
                <a:schemeClr val="dk1"/>
              </a:buClr>
              <a:buSzPts val="1000"/>
              <a:buFont typeface="Helvetica Neue Light"/>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9"/>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64" name="Google Shape;64;p9"/>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65" name="Google Shape;65;p9"/>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Helvetica Neu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0"/>
          <p:cNvSpPr/>
          <p:nvPr>
            <p:ph idx="2" type="pic"/>
          </p:nvPr>
        </p:nvSpPr>
        <p:spPr>
          <a:xfrm>
            <a:off x="5183188" y="987425"/>
            <a:ext cx="6172200" cy="4873625"/>
          </a:xfrm>
          <a:prstGeom prst="rect">
            <a:avLst/>
          </a:prstGeom>
          <a:noFill/>
          <a:ln>
            <a:noFill/>
          </a:ln>
        </p:spPr>
      </p:sp>
      <p:sp>
        <p:nvSpPr>
          <p:cNvPr id="69" name="Google Shape;69;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Helvetica Neue Light"/>
              <a:buNone/>
              <a:defRPr sz="1600"/>
            </a:lvl1pPr>
            <a:lvl2pPr indent="-228600" lvl="1" marL="914400" algn="l">
              <a:lnSpc>
                <a:spcPct val="90000"/>
              </a:lnSpc>
              <a:spcBef>
                <a:spcPts val="500"/>
              </a:spcBef>
              <a:spcAft>
                <a:spcPts val="0"/>
              </a:spcAft>
              <a:buClr>
                <a:schemeClr val="dk1"/>
              </a:buClr>
              <a:buSzPts val="1400"/>
              <a:buFont typeface="Helvetica Neue Light"/>
              <a:buNone/>
              <a:defRPr sz="1400"/>
            </a:lvl2pPr>
            <a:lvl3pPr indent="-228600" lvl="2" marL="1371600" algn="l">
              <a:lnSpc>
                <a:spcPct val="90000"/>
              </a:lnSpc>
              <a:spcBef>
                <a:spcPts val="500"/>
              </a:spcBef>
              <a:spcAft>
                <a:spcPts val="0"/>
              </a:spcAft>
              <a:buClr>
                <a:schemeClr val="dk1"/>
              </a:buClr>
              <a:buSzPts val="1200"/>
              <a:buFont typeface="Helvetica Neue Light"/>
              <a:buNone/>
              <a:defRPr sz="1200"/>
            </a:lvl3pPr>
            <a:lvl4pPr indent="-228600" lvl="3" marL="1828800" algn="l">
              <a:lnSpc>
                <a:spcPct val="90000"/>
              </a:lnSpc>
              <a:spcBef>
                <a:spcPts val="500"/>
              </a:spcBef>
              <a:spcAft>
                <a:spcPts val="0"/>
              </a:spcAft>
              <a:buClr>
                <a:schemeClr val="dk1"/>
              </a:buClr>
              <a:buSzPts val="1000"/>
              <a:buFont typeface="Helvetica Neue Light"/>
              <a:buNone/>
              <a:defRPr sz="1000"/>
            </a:lvl4pPr>
            <a:lvl5pPr indent="-228600" lvl="4" marL="2286000" algn="l">
              <a:lnSpc>
                <a:spcPct val="90000"/>
              </a:lnSpc>
              <a:spcBef>
                <a:spcPts val="500"/>
              </a:spcBef>
              <a:spcAft>
                <a:spcPts val="0"/>
              </a:spcAft>
              <a:buClr>
                <a:schemeClr val="dk1"/>
              </a:buClr>
              <a:buSzPts val="1000"/>
              <a:buFont typeface="Helvetica Neue Light"/>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0"/>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71" name="Google Shape;71;p10"/>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72" name="Google Shape;72;p10"/>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1"/>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1"/>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77" name="Google Shape;77;p11"/>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78" name="Google Shape;78;p11"/>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2"/>
          <p:cNvSpPr txBox="1"/>
          <p:nvPr>
            <p:ph type="title"/>
          </p:nvPr>
        </p:nvSpPr>
        <p:spPr>
          <a:xfrm rot="5400000">
            <a:off x="7133431" y="1956594"/>
            <a:ext cx="5811838" cy="2628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Helvetica Neue"/>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2"/>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83" name="Google Shape;83;p12"/>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20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84" name="Google Shape;84;p12"/>
          <p:cNvPicPr preferRelativeResize="0"/>
          <p:nvPr/>
        </p:nvPicPr>
        <p:blipFill rotWithShape="1">
          <a:blip r:embed="rId2">
            <a:alphaModFix/>
          </a:blip>
          <a:srcRect b="38397" l="29654" r="29481" t="38312"/>
          <a:stretch/>
        </p:blipFill>
        <p:spPr>
          <a:xfrm>
            <a:off x="358814" y="6038948"/>
            <a:ext cx="1365812" cy="5989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Helvetica Neue"/>
              <a:buNone/>
              <a:defRPr b="1" i="0" sz="4000" u="none" cap="none" strike="noStrike">
                <a:solidFill>
                  <a:schemeClr val="dk1"/>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Helvetica Neue Light"/>
              <a:buChar char="•"/>
              <a:defRPr b="0" i="0" sz="2800" u="none" cap="none" strike="noStrike">
                <a:solidFill>
                  <a:schemeClr val="dk1"/>
                </a:solidFill>
                <a:latin typeface="Helvetica Neue Light"/>
                <a:ea typeface="Helvetica Neue Light"/>
                <a:cs typeface="Helvetica Neue Light"/>
                <a:sym typeface="Helvetica Neue Light"/>
              </a:defRPr>
            </a:lvl1pPr>
            <a:lvl2pPr indent="-381000" lvl="1" marL="914400" marR="0" rtl="0" algn="l">
              <a:lnSpc>
                <a:spcPct val="90000"/>
              </a:lnSpc>
              <a:spcBef>
                <a:spcPts val="500"/>
              </a:spcBef>
              <a:spcAft>
                <a:spcPts val="0"/>
              </a:spcAft>
              <a:buClr>
                <a:schemeClr val="dk1"/>
              </a:buClr>
              <a:buSzPts val="2400"/>
              <a:buFont typeface="Helvetica Neue Light"/>
              <a:buChar char="•"/>
              <a:defRPr b="0" i="0" sz="2400" u="none" cap="none" strike="noStrike">
                <a:solidFill>
                  <a:schemeClr val="dk1"/>
                </a:solidFill>
                <a:latin typeface="Helvetica Neue Light"/>
                <a:ea typeface="Helvetica Neue Light"/>
                <a:cs typeface="Helvetica Neue Light"/>
                <a:sym typeface="Helvetica Neue Light"/>
              </a:defRPr>
            </a:lvl2pPr>
            <a:lvl3pPr indent="-355600" lvl="2" marL="1371600" marR="0" rtl="0" algn="l">
              <a:lnSpc>
                <a:spcPct val="90000"/>
              </a:lnSpc>
              <a:spcBef>
                <a:spcPts val="500"/>
              </a:spcBef>
              <a:spcAft>
                <a:spcPts val="0"/>
              </a:spcAft>
              <a:buClr>
                <a:schemeClr val="dk1"/>
              </a:buClr>
              <a:buSzPts val="2000"/>
              <a:buFont typeface="Helvetica Neue Light"/>
              <a:buChar char="•"/>
              <a:defRPr b="0" i="0" sz="2000" u="none" cap="none" strike="noStrike">
                <a:solidFill>
                  <a:schemeClr val="dk1"/>
                </a:solidFill>
                <a:latin typeface="Helvetica Neue Light"/>
                <a:ea typeface="Helvetica Neue Light"/>
                <a:cs typeface="Helvetica Neue Light"/>
                <a:sym typeface="Helvetica Neue Light"/>
              </a:defRPr>
            </a:lvl3pPr>
            <a:lvl4pPr indent="-342900" lvl="3" marL="1828800" marR="0" rtl="0" algn="l">
              <a:lnSpc>
                <a:spcPct val="90000"/>
              </a:lnSpc>
              <a:spcBef>
                <a:spcPts val="500"/>
              </a:spcBef>
              <a:spcAft>
                <a:spcPts val="0"/>
              </a:spcAft>
              <a:buClr>
                <a:schemeClr val="dk1"/>
              </a:buClr>
              <a:buSzPts val="1800"/>
              <a:buFont typeface="Helvetica Neue Light"/>
              <a:buChar char="•"/>
              <a:defRPr b="0" i="0" sz="1800" u="none" cap="none" strike="noStrike">
                <a:solidFill>
                  <a:schemeClr val="dk1"/>
                </a:solidFill>
                <a:latin typeface="Helvetica Neue Light"/>
                <a:ea typeface="Helvetica Neue Light"/>
                <a:cs typeface="Helvetica Neue Light"/>
                <a:sym typeface="Helvetica Neue Light"/>
              </a:defRPr>
            </a:lvl4pPr>
            <a:lvl5pPr indent="-342900" lvl="4" marL="2286000" marR="0" rtl="0" algn="l">
              <a:lnSpc>
                <a:spcPct val="90000"/>
              </a:lnSpc>
              <a:spcBef>
                <a:spcPts val="500"/>
              </a:spcBef>
              <a:spcAft>
                <a:spcPts val="0"/>
              </a:spcAft>
              <a:buClr>
                <a:schemeClr val="dk1"/>
              </a:buClr>
              <a:buSzPts val="1800"/>
              <a:buFont typeface="Helvetica Neue Light"/>
              <a:buChar char="•"/>
              <a:defRPr b="0" i="0" sz="1800" u="none" cap="none" strike="noStrike">
                <a:solidFill>
                  <a:schemeClr val="dk1"/>
                </a:solidFill>
                <a:latin typeface="Helvetica Neue Light"/>
                <a:ea typeface="Helvetica Neue Light"/>
                <a:cs typeface="Helvetica Neue Light"/>
                <a:sym typeface="Helvetica Neue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12" name="Google Shape;12;p1"/>
          <p:cNvGrpSpPr/>
          <p:nvPr/>
        </p:nvGrpSpPr>
        <p:grpSpPr>
          <a:xfrm>
            <a:off x="0" y="6756400"/>
            <a:ext cx="12192000" cy="105496"/>
            <a:chOff x="0" y="6756400"/>
            <a:chExt cx="12192000" cy="105496"/>
          </a:xfrm>
        </p:grpSpPr>
        <p:pic>
          <p:nvPicPr>
            <p:cNvPr id="13" name="Google Shape;13;p1"/>
            <p:cNvPicPr preferRelativeResize="0"/>
            <p:nvPr/>
          </p:nvPicPr>
          <p:blipFill rotWithShape="1">
            <a:blip r:embed="rId1">
              <a:alphaModFix/>
            </a:blip>
            <a:srcRect b="0" l="0" r="0" t="0"/>
            <a:stretch/>
          </p:blipFill>
          <p:spPr>
            <a:xfrm>
              <a:off x="1524000" y="6756400"/>
              <a:ext cx="9144000" cy="101600"/>
            </a:xfrm>
            <a:prstGeom prst="rect">
              <a:avLst/>
            </a:prstGeom>
            <a:noFill/>
            <a:ln>
              <a:noFill/>
            </a:ln>
          </p:spPr>
        </p:pic>
        <p:pic>
          <p:nvPicPr>
            <p:cNvPr id="14" name="Google Shape;14;p1"/>
            <p:cNvPicPr preferRelativeResize="0"/>
            <p:nvPr/>
          </p:nvPicPr>
          <p:blipFill rotWithShape="1">
            <a:blip r:embed="rId1">
              <a:alphaModFix/>
            </a:blip>
            <a:srcRect b="15585" l="0" r="71580" t="0"/>
            <a:stretch/>
          </p:blipFill>
          <p:spPr>
            <a:xfrm>
              <a:off x="0" y="6756400"/>
              <a:ext cx="2598717" cy="101600"/>
            </a:xfrm>
            <a:prstGeom prst="rect">
              <a:avLst/>
            </a:prstGeom>
            <a:noFill/>
            <a:ln>
              <a:noFill/>
            </a:ln>
          </p:spPr>
        </p:pic>
        <p:pic>
          <p:nvPicPr>
            <p:cNvPr id="15" name="Google Shape;15;p1"/>
            <p:cNvPicPr preferRelativeResize="0"/>
            <p:nvPr/>
          </p:nvPicPr>
          <p:blipFill rotWithShape="1">
            <a:blip r:embed="rId1">
              <a:alphaModFix/>
            </a:blip>
            <a:srcRect b="15585" l="0" r="71580" t="0"/>
            <a:stretch/>
          </p:blipFill>
          <p:spPr>
            <a:xfrm>
              <a:off x="9593283" y="6756400"/>
              <a:ext cx="2598717" cy="105496"/>
            </a:xfrm>
            <a:prstGeom prst="rect">
              <a:avLst/>
            </a:prstGeom>
            <a:noFill/>
            <a:ln>
              <a:noFill/>
            </a:ln>
          </p:spPr>
        </p:pic>
      </p:grpSp>
      <p:sp>
        <p:nvSpPr>
          <p:cNvPr id="16" name="Google Shape;16;p1"/>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1pPr>
            <a:lvl2pPr indent="0" lvl="1"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2pPr>
            <a:lvl3pPr indent="0" lvl="2"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3pPr>
            <a:lvl4pPr indent="0" lvl="3"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4pPr>
            <a:lvl5pPr indent="0" lvl="4"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5pPr>
            <a:lvl6pPr indent="0" lvl="5"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6pPr>
            <a:lvl7pPr indent="0" lvl="6"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7pPr>
            <a:lvl8pPr indent="0" lvl="7"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8pPr>
            <a:lvl9pPr indent="0" lvl="8" marL="0" marR="0" rtl="0" algn="r">
              <a:spcBef>
                <a:spcPts val="0"/>
              </a:spcBef>
              <a:buNone/>
              <a:defRPr b="1" i="0" sz="1200" u="none" cap="none" strike="noStrike">
                <a:solidFill>
                  <a:srgbClr val="7F7F7F"/>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r>
              <a:rPr lang="en-US"/>
              <a:t>|</a:t>
            </a:r>
            <a:r>
              <a:rPr b="0" lang="en-US"/>
              <a:t>  </a:t>
            </a:r>
            <a:fld id="{00000000-1234-1234-1234-123412341234}" type="slidenum">
              <a:rPr b="0" lang="en-US"/>
              <a:t>‹#›</a:t>
            </a:fld>
            <a:endParaRPr b="0"/>
          </a:p>
        </p:txBody>
      </p:sp>
      <p:sp>
        <p:nvSpPr>
          <p:cNvPr id="17" name="Google Shape;17;p1"/>
          <p:cNvSpPr txBox="1"/>
          <p:nvPr>
            <p:ph idx="10" type="dt"/>
          </p:nvPr>
        </p:nvSpPr>
        <p:spPr>
          <a:xfrm>
            <a:off x="7924800" y="6284674"/>
            <a:ext cx="2877878" cy="37742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7F7F7F"/>
                </a:solidFill>
                <a:latin typeface="Helvetica Neue Light"/>
                <a:ea typeface="Helvetica Neue Light"/>
                <a:cs typeface="Helvetica Neue Light"/>
                <a:sym typeface="Helvetica Neue Light"/>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nvSpPr>
        <p:spPr>
          <a:xfrm>
            <a:off x="906375" y="4464124"/>
            <a:ext cx="10737600" cy="746100"/>
          </a:xfrm>
          <a:prstGeom prst="rect">
            <a:avLst/>
          </a:prstGeom>
          <a:noFill/>
          <a:ln cap="flat" cmpd="sng" w="9525">
            <a:solidFill>
              <a:srgbClr val="F2F1EE"/>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b="1" lang="en-US" sz="2300">
                <a:solidFill>
                  <a:schemeClr val="dk1"/>
                </a:solidFill>
                <a:latin typeface="Times New Roman"/>
                <a:ea typeface="Times New Roman"/>
                <a:cs typeface="Times New Roman"/>
                <a:sym typeface="Times New Roman"/>
              </a:rPr>
              <a:t>Bayesian Generalized Pareto Modeling of Extreme Stock Market Crashes</a:t>
            </a:r>
            <a:endParaRPr b="1" sz="2300">
              <a:solidFill>
                <a:schemeClr val="dk1"/>
              </a:solidFill>
              <a:latin typeface="Times New Roman"/>
              <a:ea typeface="Times New Roman"/>
              <a:cs typeface="Times New Roman"/>
              <a:sym typeface="Times New Roman"/>
            </a:endParaRPr>
          </a:p>
        </p:txBody>
      </p:sp>
      <p:sp>
        <p:nvSpPr>
          <p:cNvPr id="90" name="Google Shape;90;p13"/>
          <p:cNvSpPr txBox="1"/>
          <p:nvPr/>
        </p:nvSpPr>
        <p:spPr>
          <a:xfrm>
            <a:off x="906375" y="3589800"/>
            <a:ext cx="8673900" cy="9018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None/>
            </a:pPr>
            <a:r>
              <a:rPr b="1" lang="en-US" sz="4500">
                <a:solidFill>
                  <a:schemeClr val="dk2"/>
                </a:solidFill>
                <a:latin typeface="Times New Roman"/>
                <a:ea typeface="Times New Roman"/>
                <a:cs typeface="Times New Roman"/>
                <a:sym typeface="Times New Roman"/>
              </a:rPr>
              <a:t>Financial &amp; Risk Analysis</a:t>
            </a:r>
            <a:endParaRPr b="1" sz="4500">
              <a:solidFill>
                <a:schemeClr val="dk2"/>
              </a:solidFill>
              <a:latin typeface="Times New Roman"/>
              <a:ea typeface="Times New Roman"/>
              <a:cs typeface="Times New Roman"/>
              <a:sym typeface="Times New Roman"/>
            </a:endParaRPr>
          </a:p>
        </p:txBody>
      </p:sp>
      <p:sp>
        <p:nvSpPr>
          <p:cNvPr id="91" name="Google Shape;91;p13"/>
          <p:cNvSpPr txBox="1"/>
          <p:nvPr/>
        </p:nvSpPr>
        <p:spPr>
          <a:xfrm>
            <a:off x="906375" y="4921000"/>
            <a:ext cx="2045400" cy="746100"/>
          </a:xfrm>
          <a:prstGeom prst="rect">
            <a:avLst/>
          </a:prstGeom>
          <a:noFill/>
          <a:ln cap="flat" cmpd="sng" w="9525">
            <a:solidFill>
              <a:srgbClr val="F2F1EE"/>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b="1" lang="en-US" sz="2300">
                <a:solidFill>
                  <a:schemeClr val="dk1"/>
                </a:solidFill>
                <a:latin typeface="Times New Roman"/>
                <a:ea typeface="Times New Roman"/>
                <a:cs typeface="Times New Roman"/>
                <a:sym typeface="Times New Roman"/>
              </a:rPr>
              <a:t>s2_g16_fin</a:t>
            </a:r>
            <a:endParaRPr b="1" sz="23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idx="12" type="sldNum"/>
          </p:nvPr>
        </p:nvSpPr>
        <p:spPr>
          <a:xfrm>
            <a:off x="10802678" y="6284675"/>
            <a:ext cx="551121" cy="37742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0" lang="en-US">
                <a:latin typeface="Helvetica Neue"/>
                <a:ea typeface="Helvetica Neue"/>
                <a:cs typeface="Helvetica Neue"/>
                <a:sym typeface="Helvetica Neue"/>
              </a:rPr>
              <a:t>|  </a:t>
            </a:r>
            <a:fld id="{00000000-1234-1234-1234-123412341234}" type="slidenum">
              <a:rPr b="0" lang="en-US">
                <a:latin typeface="Helvetica Neue"/>
                <a:ea typeface="Helvetica Neue"/>
                <a:cs typeface="Helvetica Neue"/>
                <a:sym typeface="Helvetica Neue"/>
              </a:rPr>
              <a:t>‹#›</a:t>
            </a:fld>
            <a:endParaRPr b="0">
              <a:latin typeface="Helvetica Neue"/>
              <a:ea typeface="Helvetica Neue"/>
              <a:cs typeface="Helvetica Neue"/>
              <a:sym typeface="Helvetica Neue"/>
            </a:endParaRPr>
          </a:p>
        </p:txBody>
      </p:sp>
      <p:sp>
        <p:nvSpPr>
          <p:cNvPr id="97" name="Google Shape;97;p14"/>
          <p:cNvSpPr txBox="1"/>
          <p:nvPr/>
        </p:nvSpPr>
        <p:spPr>
          <a:xfrm>
            <a:off x="0" y="482350"/>
            <a:ext cx="12192000" cy="80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400"/>
              </a:spcAft>
              <a:buNone/>
            </a:pPr>
            <a:r>
              <a:rPr b="1" lang="en-US" sz="4000">
                <a:solidFill>
                  <a:schemeClr val="dk2"/>
                </a:solidFill>
                <a:latin typeface="Times New Roman"/>
                <a:ea typeface="Times New Roman"/>
                <a:cs typeface="Times New Roman"/>
                <a:sym typeface="Times New Roman"/>
              </a:rPr>
              <a:t>Background</a:t>
            </a:r>
            <a:r>
              <a:rPr b="1" lang="en-US" sz="4000">
                <a:solidFill>
                  <a:schemeClr val="dk2"/>
                </a:solidFill>
                <a:latin typeface="Times New Roman"/>
                <a:ea typeface="Times New Roman"/>
                <a:cs typeface="Times New Roman"/>
                <a:sym typeface="Times New Roman"/>
              </a:rPr>
              <a:t> and Motivation</a:t>
            </a:r>
            <a:endParaRPr sz="4000">
              <a:solidFill>
                <a:schemeClr val="dk2"/>
              </a:solidFill>
              <a:latin typeface="Times New Roman"/>
              <a:ea typeface="Times New Roman"/>
              <a:cs typeface="Times New Roman"/>
              <a:sym typeface="Times New Roman"/>
            </a:endParaRPr>
          </a:p>
        </p:txBody>
      </p:sp>
      <p:sp>
        <p:nvSpPr>
          <p:cNvPr id="98" name="Google Shape;98;p14"/>
          <p:cNvSpPr txBox="1"/>
          <p:nvPr/>
        </p:nvSpPr>
        <p:spPr>
          <a:xfrm>
            <a:off x="513150" y="1435400"/>
            <a:ext cx="11165700" cy="343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Course Perspective:</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Financial markets behave like probabilistic systems with extreme uncertainty</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Traditional models fail to capture </a:t>
            </a:r>
            <a:r>
              <a:rPr i="1" lang="en-US" sz="2000">
                <a:solidFill>
                  <a:schemeClr val="dk1"/>
                </a:solidFill>
                <a:latin typeface="Times New Roman"/>
                <a:ea typeface="Times New Roman"/>
                <a:cs typeface="Times New Roman"/>
                <a:sym typeface="Times New Roman"/>
              </a:rPr>
              <a:t>rare but catastrophic events</a:t>
            </a:r>
            <a:endParaRPr i="1"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Need for combining </a:t>
            </a:r>
            <a:r>
              <a:rPr b="1" lang="en-US" sz="2000">
                <a:solidFill>
                  <a:schemeClr val="dk1"/>
                </a:solidFill>
                <a:latin typeface="Times New Roman"/>
                <a:ea typeface="Times New Roman"/>
                <a:cs typeface="Times New Roman"/>
                <a:sym typeface="Times New Roman"/>
              </a:rPr>
              <a:t>probability theory + algorithms</a:t>
            </a:r>
            <a:r>
              <a:rPr lang="en-US" sz="2000">
                <a:solidFill>
                  <a:schemeClr val="dk1"/>
                </a:solidFill>
                <a:latin typeface="Times New Roman"/>
                <a:ea typeface="Times New Roman"/>
                <a:cs typeface="Times New Roman"/>
                <a:sym typeface="Times New Roman"/>
              </a:rPr>
              <a:t> to model extreme risks</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Real-World Perspective:</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Events like the </a:t>
            </a:r>
            <a:r>
              <a:rPr b="1" lang="en-US" sz="2000">
                <a:solidFill>
                  <a:schemeClr val="dk1"/>
                </a:solidFill>
                <a:latin typeface="Times New Roman"/>
                <a:ea typeface="Times New Roman"/>
                <a:cs typeface="Times New Roman"/>
                <a:sym typeface="Times New Roman"/>
              </a:rPr>
              <a:t>2008 Financial Crisis</a:t>
            </a:r>
            <a:r>
              <a:rPr lang="en-US" sz="2000">
                <a:solidFill>
                  <a:schemeClr val="dk1"/>
                </a:solidFill>
                <a:latin typeface="Times New Roman"/>
                <a:ea typeface="Times New Roman"/>
                <a:cs typeface="Times New Roman"/>
                <a:sym typeface="Times New Roman"/>
              </a:rPr>
              <a:t> show how sudden crashes destroy billions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Investors and institutions need </a:t>
            </a:r>
            <a:r>
              <a:rPr i="1" lang="en-US" sz="2000">
                <a:solidFill>
                  <a:schemeClr val="dk1"/>
                </a:solidFill>
                <a:latin typeface="Times New Roman"/>
                <a:ea typeface="Times New Roman"/>
                <a:cs typeface="Times New Roman"/>
                <a:sym typeface="Times New Roman"/>
              </a:rPr>
              <a:t>early warning systems</a:t>
            </a:r>
            <a:endParaRPr i="1"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Tail risks are rare—but when they hit, they hit hard</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0" lang="en-US">
                <a:latin typeface="Helvetica Neue"/>
                <a:ea typeface="Helvetica Neue"/>
                <a:cs typeface="Helvetica Neue"/>
                <a:sym typeface="Helvetica Neue"/>
              </a:rPr>
              <a:t>|  </a:t>
            </a:r>
            <a:fld id="{00000000-1234-1234-1234-123412341234}" type="slidenum">
              <a:rPr b="0" lang="en-US">
                <a:latin typeface="Helvetica Neue"/>
                <a:ea typeface="Helvetica Neue"/>
                <a:cs typeface="Helvetica Neue"/>
                <a:sym typeface="Helvetica Neue"/>
              </a:rPr>
              <a:t>‹#›</a:t>
            </a:fld>
            <a:endParaRPr b="0">
              <a:latin typeface="Helvetica Neue"/>
              <a:ea typeface="Helvetica Neue"/>
              <a:cs typeface="Helvetica Neue"/>
              <a:sym typeface="Helvetica Neue"/>
            </a:endParaRPr>
          </a:p>
        </p:txBody>
      </p:sp>
      <p:sp>
        <p:nvSpPr>
          <p:cNvPr id="104" name="Google Shape;104;p15"/>
          <p:cNvSpPr txBox="1"/>
          <p:nvPr/>
        </p:nvSpPr>
        <p:spPr>
          <a:xfrm>
            <a:off x="0" y="482350"/>
            <a:ext cx="12192000" cy="80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400"/>
              </a:spcAft>
              <a:buNone/>
            </a:pPr>
            <a:r>
              <a:rPr b="1" lang="en-US" sz="4000">
                <a:solidFill>
                  <a:schemeClr val="dk2"/>
                </a:solidFill>
                <a:latin typeface="Times New Roman"/>
                <a:ea typeface="Times New Roman"/>
                <a:cs typeface="Times New Roman"/>
                <a:sym typeface="Times New Roman"/>
              </a:rPr>
              <a:t>Background and Motivation</a:t>
            </a:r>
            <a:endParaRPr sz="4000">
              <a:solidFill>
                <a:schemeClr val="dk2"/>
              </a:solidFill>
              <a:latin typeface="Times New Roman"/>
              <a:ea typeface="Times New Roman"/>
              <a:cs typeface="Times New Roman"/>
              <a:sym typeface="Times New Roman"/>
            </a:endParaRPr>
          </a:p>
        </p:txBody>
      </p:sp>
      <p:sp>
        <p:nvSpPr>
          <p:cNvPr id="105" name="Google Shape;105;p15"/>
          <p:cNvSpPr txBox="1"/>
          <p:nvPr/>
        </p:nvSpPr>
        <p:spPr>
          <a:xfrm>
            <a:off x="513150" y="1609400"/>
            <a:ext cx="11165700" cy="174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200">
                <a:solidFill>
                  <a:schemeClr val="dk1"/>
                </a:solidFill>
                <a:latin typeface="Times New Roman"/>
                <a:ea typeface="Times New Roman"/>
                <a:cs typeface="Times New Roman"/>
                <a:sym typeface="Times New Roman"/>
              </a:rPr>
              <a:t>Why This Problem Matters:</a:t>
            </a:r>
            <a:endParaRPr b="1" sz="22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Standard models underestimate extreme losses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Better prediction = better risk management</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Helps in building </a:t>
            </a:r>
            <a:r>
              <a:rPr b="1" lang="en-US" sz="2000">
                <a:solidFill>
                  <a:schemeClr val="dk1"/>
                </a:solidFill>
                <a:latin typeface="Times New Roman"/>
                <a:ea typeface="Times New Roman"/>
                <a:cs typeface="Times New Roman"/>
                <a:sym typeface="Times New Roman"/>
              </a:rPr>
              <a:t>robust financial systems</a:t>
            </a:r>
            <a:endParaRPr b="1" sz="20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0" lang="en-US">
                <a:latin typeface="Helvetica Neue"/>
                <a:ea typeface="Helvetica Neue"/>
                <a:cs typeface="Helvetica Neue"/>
                <a:sym typeface="Helvetica Neue"/>
              </a:rPr>
              <a:t>|  </a:t>
            </a:r>
            <a:fld id="{00000000-1234-1234-1234-123412341234}" type="slidenum">
              <a:rPr b="0" lang="en-US">
                <a:latin typeface="Helvetica Neue"/>
                <a:ea typeface="Helvetica Neue"/>
                <a:cs typeface="Helvetica Neue"/>
                <a:sym typeface="Helvetica Neue"/>
              </a:rPr>
              <a:t>‹#›</a:t>
            </a:fld>
            <a:endParaRPr b="0">
              <a:latin typeface="Helvetica Neue"/>
              <a:ea typeface="Helvetica Neue"/>
              <a:cs typeface="Helvetica Neue"/>
              <a:sym typeface="Helvetica Neue"/>
            </a:endParaRPr>
          </a:p>
        </p:txBody>
      </p:sp>
      <p:sp>
        <p:nvSpPr>
          <p:cNvPr id="111" name="Google Shape;111;p16"/>
          <p:cNvSpPr txBox="1"/>
          <p:nvPr/>
        </p:nvSpPr>
        <p:spPr>
          <a:xfrm>
            <a:off x="881950" y="1197875"/>
            <a:ext cx="9662100" cy="307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latin typeface="Times New Roman"/>
                <a:ea typeface="Times New Roman"/>
                <a:cs typeface="Times New Roman"/>
                <a:sym typeface="Times New Roman"/>
              </a:rPr>
              <a:t>Problem Definition:</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Given financial time series data</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Identify and model </a:t>
            </a:r>
            <a:r>
              <a:rPr b="1" lang="en-US" sz="2000">
                <a:solidFill>
                  <a:schemeClr val="dk1"/>
                </a:solidFill>
                <a:latin typeface="Times New Roman"/>
                <a:ea typeface="Times New Roman"/>
                <a:cs typeface="Times New Roman"/>
                <a:sym typeface="Times New Roman"/>
              </a:rPr>
              <a:t>tail events</a:t>
            </a:r>
            <a:r>
              <a:rPr lang="en-US" sz="2000">
                <a:solidFill>
                  <a:schemeClr val="dk1"/>
                </a:solidFill>
                <a:latin typeface="Times New Roman"/>
                <a:ea typeface="Times New Roman"/>
                <a:cs typeface="Times New Roman"/>
                <a:sym typeface="Times New Roman"/>
              </a:rPr>
              <a:t> using statistical methods</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Assumptions:</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Financial returns follow heavy-tailed distribution</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Extreme events can be modeled using GPD</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Parameters evolve over time</a:t>
            </a:r>
            <a:endParaRPr sz="2000">
              <a:solidFill>
                <a:schemeClr val="dk1"/>
              </a:solidFill>
              <a:latin typeface="Times New Roman"/>
              <a:ea typeface="Times New Roman"/>
              <a:cs typeface="Times New Roman"/>
              <a:sym typeface="Times New Roman"/>
            </a:endParaRPr>
          </a:p>
        </p:txBody>
      </p:sp>
      <p:sp>
        <p:nvSpPr>
          <p:cNvPr id="112" name="Google Shape;112;p16"/>
          <p:cNvSpPr txBox="1"/>
          <p:nvPr/>
        </p:nvSpPr>
        <p:spPr>
          <a:xfrm>
            <a:off x="0" y="482350"/>
            <a:ext cx="12192000" cy="80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400"/>
              </a:spcAft>
              <a:buNone/>
            </a:pPr>
            <a:r>
              <a:rPr b="1" lang="en-US" sz="4000">
                <a:solidFill>
                  <a:schemeClr val="dk2"/>
                </a:solidFill>
                <a:latin typeface="Times New Roman"/>
                <a:ea typeface="Times New Roman"/>
                <a:cs typeface="Times New Roman"/>
                <a:sym typeface="Times New Roman"/>
              </a:rPr>
              <a:t>Problem Formulation</a:t>
            </a:r>
            <a:endParaRPr sz="4000">
              <a:solidFill>
                <a:schemeClr val="dk2"/>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0" lang="en-US">
                <a:latin typeface="Helvetica Neue"/>
                <a:ea typeface="Helvetica Neue"/>
                <a:cs typeface="Helvetica Neue"/>
                <a:sym typeface="Helvetica Neue"/>
              </a:rPr>
              <a:t>|  </a:t>
            </a:r>
            <a:fld id="{00000000-1234-1234-1234-123412341234}" type="slidenum">
              <a:rPr b="0" lang="en-US">
                <a:latin typeface="Helvetica Neue"/>
                <a:ea typeface="Helvetica Neue"/>
                <a:cs typeface="Helvetica Neue"/>
                <a:sym typeface="Helvetica Neue"/>
              </a:rPr>
              <a:t>‹#›</a:t>
            </a:fld>
            <a:endParaRPr b="0">
              <a:latin typeface="Helvetica Neue"/>
              <a:ea typeface="Helvetica Neue"/>
              <a:cs typeface="Helvetica Neue"/>
              <a:sym typeface="Helvetica Neue"/>
            </a:endParaRPr>
          </a:p>
        </p:txBody>
      </p:sp>
      <p:sp>
        <p:nvSpPr>
          <p:cNvPr id="118" name="Google Shape;118;p17"/>
          <p:cNvSpPr txBox="1"/>
          <p:nvPr/>
        </p:nvSpPr>
        <p:spPr>
          <a:xfrm>
            <a:off x="0" y="482350"/>
            <a:ext cx="12192000" cy="80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400"/>
              </a:spcBef>
              <a:spcAft>
                <a:spcPts val="400"/>
              </a:spcAft>
              <a:buNone/>
            </a:pPr>
            <a:r>
              <a:rPr b="1" lang="en-US" sz="4000">
                <a:solidFill>
                  <a:schemeClr val="dk2"/>
                </a:solidFill>
                <a:latin typeface="Times New Roman"/>
                <a:ea typeface="Times New Roman"/>
                <a:cs typeface="Times New Roman"/>
                <a:sym typeface="Times New Roman"/>
              </a:rPr>
              <a:t>Problem Formulation</a:t>
            </a:r>
            <a:endParaRPr sz="4000">
              <a:solidFill>
                <a:schemeClr val="dk2"/>
              </a:solidFill>
              <a:latin typeface="Times New Roman"/>
              <a:ea typeface="Times New Roman"/>
              <a:cs typeface="Times New Roman"/>
              <a:sym typeface="Times New Roman"/>
            </a:endParaRPr>
          </a:p>
        </p:txBody>
      </p:sp>
      <p:sp>
        <p:nvSpPr>
          <p:cNvPr id="119" name="Google Shape;119;p17"/>
          <p:cNvSpPr txBox="1"/>
          <p:nvPr/>
        </p:nvSpPr>
        <p:spPr>
          <a:xfrm>
            <a:off x="708875" y="1282750"/>
            <a:ext cx="10644900" cy="307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Objectives:</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Estimate tail risk accurately</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Compare deterministic vs randomized approaches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Improve prediction under uncertainty</a:t>
            </a:r>
            <a:endParaRPr b="1"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Approach:</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Use GPD model</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Compare MLE vs Bayesian methods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idx="1" type="body"/>
          </p:nvPr>
        </p:nvSpPr>
        <p:spPr>
          <a:xfrm>
            <a:off x="-25" y="251825"/>
            <a:ext cx="12192000" cy="776700"/>
          </a:xfrm>
          <a:prstGeom prst="rect">
            <a:avLst/>
          </a:prstGeom>
        </p:spPr>
        <p:txBody>
          <a:bodyPr anchorCtr="0" anchor="t" bIns="45700" lIns="91425" spcFirstLastPara="1" rIns="91425" wrap="square" tIns="45700">
            <a:noAutofit/>
          </a:bodyPr>
          <a:lstStyle/>
          <a:p>
            <a:pPr indent="0" lvl="0" marL="0" rtl="0" algn="ctr">
              <a:lnSpc>
                <a:spcPct val="115000"/>
              </a:lnSpc>
              <a:spcBef>
                <a:spcPts val="2400"/>
              </a:spcBef>
              <a:spcAft>
                <a:spcPts val="0"/>
              </a:spcAft>
              <a:buNone/>
            </a:pPr>
            <a:r>
              <a:rPr b="1" lang="en-US" sz="4000">
                <a:solidFill>
                  <a:schemeClr val="dk2"/>
                </a:solidFill>
                <a:latin typeface="Times New Roman"/>
                <a:ea typeface="Times New Roman"/>
                <a:cs typeface="Times New Roman"/>
                <a:sym typeface="Times New Roman"/>
              </a:rPr>
              <a:t>Base Paper Overview</a:t>
            </a:r>
            <a:endParaRPr b="1" sz="4000">
              <a:solidFill>
                <a:schemeClr val="dk2"/>
              </a:solidFill>
              <a:latin typeface="Times New Roman"/>
              <a:ea typeface="Times New Roman"/>
              <a:cs typeface="Times New Roman"/>
              <a:sym typeface="Times New Roman"/>
            </a:endParaRPr>
          </a:p>
          <a:p>
            <a:pPr indent="0" lvl="0" marL="0" rtl="0" algn="l">
              <a:spcBef>
                <a:spcPts val="1000"/>
              </a:spcBef>
              <a:spcAft>
                <a:spcPts val="0"/>
              </a:spcAft>
              <a:buNone/>
            </a:pPr>
            <a:r>
              <a:t/>
            </a:r>
            <a:endParaRPr>
              <a:solidFill>
                <a:schemeClr val="dk1"/>
              </a:solidFill>
              <a:latin typeface="Times New Roman"/>
              <a:ea typeface="Times New Roman"/>
              <a:cs typeface="Times New Roman"/>
              <a:sym typeface="Times New Roman"/>
            </a:endParaRPr>
          </a:p>
        </p:txBody>
      </p:sp>
      <p:sp>
        <p:nvSpPr>
          <p:cNvPr id="126" name="Google Shape;126;p18"/>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b="0" lang="en-US">
                <a:solidFill>
                  <a:schemeClr val="dk1"/>
                </a:solidFill>
                <a:latin typeface="Helvetica Neue"/>
                <a:ea typeface="Helvetica Neue"/>
                <a:cs typeface="Helvetica Neue"/>
                <a:sym typeface="Helvetica Neue"/>
              </a:rPr>
              <a:t>|  </a:t>
            </a:r>
            <a:fld id="{00000000-1234-1234-1234-123412341234}" type="slidenum">
              <a:rPr b="0" lang="en-US">
                <a:solidFill>
                  <a:schemeClr val="dk1"/>
                </a:solidFill>
                <a:latin typeface="Helvetica Neue"/>
                <a:ea typeface="Helvetica Neue"/>
                <a:cs typeface="Helvetica Neue"/>
                <a:sym typeface="Helvetica Neue"/>
              </a:rPr>
              <a:t>‹#›</a:t>
            </a:fld>
            <a:endParaRPr b="0">
              <a:solidFill>
                <a:schemeClr val="dk1"/>
              </a:solidFill>
              <a:latin typeface="Helvetica Neue"/>
              <a:ea typeface="Helvetica Neue"/>
              <a:cs typeface="Helvetica Neue"/>
              <a:sym typeface="Helvetica Neue"/>
            </a:endParaRPr>
          </a:p>
        </p:txBody>
      </p:sp>
      <p:sp>
        <p:nvSpPr>
          <p:cNvPr id="127" name="Google Shape;127;p18"/>
          <p:cNvSpPr txBox="1"/>
          <p:nvPr/>
        </p:nvSpPr>
        <p:spPr>
          <a:xfrm>
            <a:off x="419075" y="1284750"/>
            <a:ext cx="11353800" cy="444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Base Paper:</a:t>
            </a:r>
            <a:br>
              <a:rPr b="1" lang="en-US" sz="2000">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 Das, S. (2025) – </a:t>
            </a:r>
            <a:r>
              <a:rPr i="1" lang="en-US" sz="2000">
                <a:solidFill>
                  <a:schemeClr val="dk1"/>
                </a:solidFill>
                <a:latin typeface="Times New Roman"/>
                <a:ea typeface="Times New Roman"/>
                <a:cs typeface="Times New Roman"/>
                <a:sym typeface="Times New Roman"/>
              </a:rPr>
              <a:t>Predicting Stock Market Crash with Bayesian Generalised Pareto Regression</a:t>
            </a:r>
            <a:endParaRPr i="1"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Main Idea:</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Uses </a:t>
            </a:r>
            <a:r>
              <a:rPr b="1" lang="en-US" sz="2000">
                <a:solidFill>
                  <a:schemeClr val="dk1"/>
                </a:solidFill>
                <a:latin typeface="Times New Roman"/>
                <a:ea typeface="Times New Roman"/>
                <a:cs typeface="Times New Roman"/>
                <a:sym typeface="Times New Roman"/>
              </a:rPr>
              <a:t>Bayesian framework + Generalised Pareto Distribution (GPD)</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Focuses on modeling </a:t>
            </a:r>
            <a:r>
              <a:rPr b="1" lang="en-US" sz="2000">
                <a:solidFill>
                  <a:schemeClr val="dk1"/>
                </a:solidFill>
                <a:latin typeface="Times New Roman"/>
                <a:ea typeface="Times New Roman"/>
                <a:cs typeface="Times New Roman"/>
                <a:sym typeface="Times New Roman"/>
              </a:rPr>
              <a:t>extreme values (tail events)</a:t>
            </a:r>
            <a:r>
              <a:rPr lang="en-US" sz="2000">
                <a:solidFill>
                  <a:schemeClr val="dk1"/>
                </a:solidFill>
                <a:latin typeface="Times New Roman"/>
                <a:ea typeface="Times New Roman"/>
                <a:cs typeface="Times New Roman"/>
                <a:sym typeface="Times New Roman"/>
              </a:rPr>
              <a:t> instead of normal behavior</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Core Contribution:</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Introduces a regression-based approach for tail risk prediction</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Uses </a:t>
            </a:r>
            <a:r>
              <a:rPr b="1" lang="en-US" sz="2000">
                <a:solidFill>
                  <a:schemeClr val="dk1"/>
                </a:solidFill>
                <a:latin typeface="Times New Roman"/>
                <a:ea typeface="Times New Roman"/>
                <a:cs typeface="Times New Roman"/>
                <a:sym typeface="Times New Roman"/>
              </a:rPr>
              <a:t>Bayesian regularization</a:t>
            </a:r>
            <a:r>
              <a:rPr lang="en-US" sz="2000">
                <a:solidFill>
                  <a:schemeClr val="dk1"/>
                </a:solidFill>
                <a:latin typeface="Times New Roman"/>
                <a:ea typeface="Times New Roman"/>
                <a:cs typeface="Times New Roman"/>
                <a:sym typeface="Times New Roman"/>
              </a:rPr>
              <a:t> to improve parameter estimation</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Captures dynamic volatility using advanced estimators</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sz="2000">
                <a:solidFill>
                  <a:schemeClr val="dk1"/>
                </a:solidFill>
                <a:latin typeface="Times New Roman"/>
                <a:ea typeface="Times New Roman"/>
                <a:cs typeface="Times New Roman"/>
                <a:sym typeface="Times New Roman"/>
              </a:rPr>
              <a:t> Instead of predicting “average market behavior,” the paper predicts </a:t>
            </a:r>
            <a:r>
              <a:rPr b="1" lang="en-US" sz="2000">
                <a:solidFill>
                  <a:schemeClr val="dk1"/>
                </a:solidFill>
                <a:latin typeface="Times New Roman"/>
                <a:ea typeface="Times New Roman"/>
                <a:cs typeface="Times New Roman"/>
                <a:sym typeface="Times New Roman"/>
              </a:rPr>
              <a:t>extreme crashes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idx="1" type="body"/>
          </p:nvPr>
        </p:nvSpPr>
        <p:spPr>
          <a:xfrm>
            <a:off x="-25" y="251825"/>
            <a:ext cx="12192000" cy="776700"/>
          </a:xfrm>
          <a:prstGeom prst="rect">
            <a:avLst/>
          </a:prstGeom>
        </p:spPr>
        <p:txBody>
          <a:bodyPr anchorCtr="0" anchor="t" bIns="45700" lIns="91425" spcFirstLastPara="1" rIns="91425" wrap="square" tIns="45700">
            <a:noAutofit/>
          </a:bodyPr>
          <a:lstStyle/>
          <a:p>
            <a:pPr indent="0" lvl="0" marL="0" rtl="0" algn="ctr">
              <a:lnSpc>
                <a:spcPct val="115000"/>
              </a:lnSpc>
              <a:spcBef>
                <a:spcPts val="2400"/>
              </a:spcBef>
              <a:spcAft>
                <a:spcPts val="0"/>
              </a:spcAft>
              <a:buNone/>
            </a:pPr>
            <a:r>
              <a:rPr b="1" lang="en-US" sz="4000">
                <a:solidFill>
                  <a:schemeClr val="dk2"/>
                </a:solidFill>
                <a:latin typeface="Times New Roman"/>
                <a:ea typeface="Times New Roman"/>
                <a:cs typeface="Times New Roman"/>
                <a:sym typeface="Times New Roman"/>
              </a:rPr>
              <a:t>Mathematical Model (GPD Model)</a:t>
            </a:r>
            <a:endParaRPr b="1" sz="4000">
              <a:solidFill>
                <a:schemeClr val="dk2"/>
              </a:solidFill>
              <a:latin typeface="Times New Roman"/>
              <a:ea typeface="Times New Roman"/>
              <a:cs typeface="Times New Roman"/>
              <a:sym typeface="Times New Roman"/>
            </a:endParaRPr>
          </a:p>
          <a:p>
            <a:pPr indent="0" lvl="0" marL="0" rtl="0" algn="l">
              <a:spcBef>
                <a:spcPts val="1000"/>
              </a:spcBef>
              <a:spcAft>
                <a:spcPts val="0"/>
              </a:spcAft>
              <a:buNone/>
            </a:pPr>
            <a:r>
              <a:t/>
            </a:r>
            <a:endParaRPr>
              <a:solidFill>
                <a:schemeClr val="dk2"/>
              </a:solidFill>
              <a:latin typeface="Times New Roman"/>
              <a:ea typeface="Times New Roman"/>
              <a:cs typeface="Times New Roman"/>
              <a:sym typeface="Times New Roman"/>
            </a:endParaRPr>
          </a:p>
        </p:txBody>
      </p:sp>
      <p:sp>
        <p:nvSpPr>
          <p:cNvPr id="134" name="Google Shape;134;p19"/>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b="0" lang="en-US">
                <a:solidFill>
                  <a:schemeClr val="dk1"/>
                </a:solidFill>
                <a:latin typeface="Helvetica Neue"/>
                <a:ea typeface="Helvetica Neue"/>
                <a:cs typeface="Helvetica Neue"/>
                <a:sym typeface="Helvetica Neue"/>
              </a:rPr>
              <a:t>|  </a:t>
            </a:r>
            <a:fld id="{00000000-1234-1234-1234-123412341234}" type="slidenum">
              <a:rPr b="0" lang="en-US">
                <a:solidFill>
                  <a:schemeClr val="dk1"/>
                </a:solidFill>
                <a:latin typeface="Helvetica Neue"/>
                <a:ea typeface="Helvetica Neue"/>
                <a:cs typeface="Helvetica Neue"/>
                <a:sym typeface="Helvetica Neue"/>
              </a:rPr>
              <a:t>‹#›</a:t>
            </a:fld>
            <a:endParaRPr b="0">
              <a:solidFill>
                <a:schemeClr val="dk1"/>
              </a:solidFill>
              <a:latin typeface="Helvetica Neue"/>
              <a:ea typeface="Helvetica Neue"/>
              <a:cs typeface="Helvetica Neue"/>
              <a:sym typeface="Helvetica Neue"/>
            </a:endParaRPr>
          </a:p>
        </p:txBody>
      </p:sp>
      <p:sp>
        <p:nvSpPr>
          <p:cNvPr id="135" name="Google Shape;135;p19"/>
          <p:cNvSpPr txBox="1"/>
          <p:nvPr/>
        </p:nvSpPr>
        <p:spPr>
          <a:xfrm>
            <a:off x="694650" y="1204800"/>
            <a:ext cx="10802700" cy="444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Where:</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Lobster"/>
                <a:ea typeface="Lobster"/>
                <a:cs typeface="Lobster"/>
                <a:sym typeface="Lobster"/>
              </a:rPr>
              <a:t>ξ</a:t>
            </a:r>
            <a:r>
              <a:rPr lang="en-US" sz="2000">
                <a:solidFill>
                  <a:schemeClr val="dk1"/>
                </a:solidFill>
                <a:latin typeface="Times New Roman"/>
                <a:ea typeface="Times New Roman"/>
                <a:cs typeface="Times New Roman"/>
                <a:sym typeface="Times New Roman"/>
              </a:rPr>
              <a:t> = Shape parameter (tail heaviness)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Lobster"/>
                <a:ea typeface="Lobster"/>
                <a:cs typeface="Lobster"/>
                <a:sym typeface="Lobster"/>
              </a:rPr>
              <a:t>β</a:t>
            </a:r>
            <a:r>
              <a:rPr lang="en-US" sz="2000">
                <a:solidFill>
                  <a:schemeClr val="dk1"/>
                </a:solidFill>
                <a:latin typeface="Times New Roman"/>
                <a:ea typeface="Times New Roman"/>
                <a:cs typeface="Times New Roman"/>
                <a:sym typeface="Times New Roman"/>
              </a:rPr>
              <a:t> = Scale parameter</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Lobster"/>
                <a:ea typeface="Lobster"/>
                <a:cs typeface="Lobster"/>
                <a:sym typeface="Lobster"/>
              </a:rPr>
              <a:t>x </a:t>
            </a:r>
            <a:r>
              <a:rPr lang="en-US" sz="2000">
                <a:solidFill>
                  <a:schemeClr val="dk1"/>
                </a:solidFill>
                <a:latin typeface="Times New Roman"/>
                <a:ea typeface="Times New Roman"/>
                <a:cs typeface="Times New Roman"/>
                <a:sym typeface="Times New Roman"/>
              </a:rPr>
              <a:t>= Excess over threshold</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Model Extension:</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Scale parameter modeled as </a:t>
            </a:r>
            <a:r>
              <a:rPr b="1" lang="en-US" sz="2000">
                <a:solidFill>
                  <a:schemeClr val="dk1"/>
                </a:solidFill>
                <a:latin typeface="Times New Roman"/>
                <a:ea typeface="Times New Roman"/>
                <a:cs typeface="Times New Roman"/>
                <a:sym typeface="Times New Roman"/>
              </a:rPr>
              <a:t>log-linear function</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Parameters estimated using </a:t>
            </a:r>
            <a:r>
              <a:rPr b="1" lang="en-US" sz="2000">
                <a:solidFill>
                  <a:schemeClr val="dk1"/>
                </a:solidFill>
                <a:latin typeface="Times New Roman"/>
                <a:ea typeface="Times New Roman"/>
                <a:cs typeface="Times New Roman"/>
                <a:sym typeface="Times New Roman"/>
              </a:rPr>
              <a:t>Bayesian inference</a:t>
            </a:r>
            <a:endParaRPr b="1"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Interpretation:</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Higher </a:t>
            </a:r>
            <a:r>
              <a:rPr lang="en-US" sz="2000">
                <a:solidFill>
                  <a:schemeClr val="dk1"/>
                </a:solidFill>
                <a:latin typeface="Lobster"/>
                <a:ea typeface="Lobster"/>
                <a:cs typeface="Lobster"/>
                <a:sym typeface="Lobster"/>
              </a:rPr>
              <a:t>ξ</a:t>
            </a:r>
            <a:r>
              <a:rPr lang="en-US" sz="2000">
                <a:solidFill>
                  <a:schemeClr val="dk1"/>
                </a:solidFill>
                <a:latin typeface="Times New Roman"/>
                <a:ea typeface="Times New Roman"/>
                <a:cs typeface="Times New Roman"/>
                <a:sym typeface="Times New Roman"/>
              </a:rPr>
              <a:t> → heavier tail → higher crash risk</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Times New Roman"/>
                <a:ea typeface="Times New Roman"/>
                <a:cs typeface="Times New Roman"/>
                <a:sym typeface="Times New Roman"/>
              </a:rPr>
              <a:t>Model focuses only on </a:t>
            </a:r>
            <a:r>
              <a:rPr b="1" lang="en-US" sz="2000">
                <a:solidFill>
                  <a:schemeClr val="dk1"/>
                </a:solidFill>
                <a:latin typeface="Times New Roman"/>
                <a:ea typeface="Times New Roman"/>
                <a:cs typeface="Times New Roman"/>
                <a:sym typeface="Times New Roman"/>
              </a:rPr>
              <a:t>extreme losses</a:t>
            </a:r>
            <a:r>
              <a:rPr lang="en-US" sz="2000">
                <a:solidFill>
                  <a:schemeClr val="dk1"/>
                </a:solidFill>
                <a:latin typeface="Times New Roman"/>
                <a:ea typeface="Times New Roman"/>
                <a:cs typeface="Times New Roman"/>
                <a:sym typeface="Times New Roman"/>
              </a:rPr>
              <a:t>, not normal fluctuations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idx="1" type="body"/>
          </p:nvPr>
        </p:nvSpPr>
        <p:spPr>
          <a:xfrm>
            <a:off x="-25" y="251825"/>
            <a:ext cx="12192000" cy="776700"/>
          </a:xfrm>
          <a:prstGeom prst="rect">
            <a:avLst/>
          </a:prstGeom>
        </p:spPr>
        <p:txBody>
          <a:bodyPr anchorCtr="0" anchor="t" bIns="45700" lIns="91425" spcFirstLastPara="1" rIns="91425" wrap="square" tIns="45700">
            <a:noAutofit/>
          </a:bodyPr>
          <a:lstStyle/>
          <a:p>
            <a:pPr indent="0" lvl="0" marL="0" rtl="0" algn="ctr">
              <a:lnSpc>
                <a:spcPct val="115000"/>
              </a:lnSpc>
              <a:spcBef>
                <a:spcPts val="2400"/>
              </a:spcBef>
              <a:spcAft>
                <a:spcPts val="0"/>
              </a:spcAft>
              <a:buNone/>
            </a:pPr>
            <a:r>
              <a:rPr b="1" lang="en-US" sz="4000">
                <a:solidFill>
                  <a:schemeClr val="dk2"/>
                </a:solidFill>
                <a:latin typeface="Times New Roman"/>
                <a:ea typeface="Times New Roman"/>
                <a:cs typeface="Times New Roman"/>
                <a:sym typeface="Times New Roman"/>
              </a:rPr>
              <a:t>Bounds Used in the Problem</a:t>
            </a:r>
            <a:endParaRPr b="1" sz="4000">
              <a:solidFill>
                <a:schemeClr val="dk2"/>
              </a:solidFill>
              <a:latin typeface="Times New Roman"/>
              <a:ea typeface="Times New Roman"/>
              <a:cs typeface="Times New Roman"/>
              <a:sym typeface="Times New Roman"/>
            </a:endParaRPr>
          </a:p>
          <a:p>
            <a:pPr indent="0" lvl="0" marL="0" rtl="0" algn="l">
              <a:spcBef>
                <a:spcPts val="1000"/>
              </a:spcBef>
              <a:spcAft>
                <a:spcPts val="0"/>
              </a:spcAft>
              <a:buNone/>
            </a:pPr>
            <a:r>
              <a:t/>
            </a:r>
            <a:endParaRPr>
              <a:solidFill>
                <a:schemeClr val="dk1"/>
              </a:solidFill>
              <a:latin typeface="Times New Roman"/>
              <a:ea typeface="Times New Roman"/>
              <a:cs typeface="Times New Roman"/>
              <a:sym typeface="Times New Roman"/>
            </a:endParaRPr>
          </a:p>
        </p:txBody>
      </p:sp>
      <p:sp>
        <p:nvSpPr>
          <p:cNvPr id="142" name="Google Shape;142;p20"/>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b="0" lang="en-US">
                <a:solidFill>
                  <a:schemeClr val="dk1"/>
                </a:solidFill>
                <a:latin typeface="Helvetica Neue"/>
                <a:ea typeface="Helvetica Neue"/>
                <a:cs typeface="Helvetica Neue"/>
                <a:sym typeface="Helvetica Neue"/>
              </a:rPr>
              <a:t>|  </a:t>
            </a:r>
            <a:fld id="{00000000-1234-1234-1234-123412341234}" type="slidenum">
              <a:rPr b="0" lang="en-US">
                <a:solidFill>
                  <a:schemeClr val="dk1"/>
                </a:solidFill>
                <a:latin typeface="Helvetica Neue"/>
                <a:ea typeface="Helvetica Neue"/>
                <a:cs typeface="Helvetica Neue"/>
                <a:sym typeface="Helvetica Neue"/>
              </a:rPr>
              <a:t>‹#›</a:t>
            </a:fld>
            <a:endParaRPr b="0">
              <a:solidFill>
                <a:schemeClr val="dk1"/>
              </a:solidFill>
              <a:latin typeface="Helvetica Neue"/>
              <a:ea typeface="Helvetica Neue"/>
              <a:cs typeface="Helvetica Neue"/>
              <a:sym typeface="Helvetica Neue"/>
            </a:endParaRPr>
          </a:p>
        </p:txBody>
      </p:sp>
      <p:sp>
        <p:nvSpPr>
          <p:cNvPr id="143" name="Google Shape;143;p20"/>
          <p:cNvSpPr txBox="1"/>
          <p:nvPr/>
        </p:nvSpPr>
        <p:spPr>
          <a:xfrm>
            <a:off x="455250" y="750750"/>
            <a:ext cx="11281500" cy="535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Key Bounds and Constraints:</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Shape parameter constraint:</a:t>
            </a:r>
            <a:endParaRPr sz="2000">
              <a:solidFill>
                <a:schemeClr val="dk1"/>
              </a:solidFill>
              <a:latin typeface="Times New Roman"/>
              <a:ea typeface="Times New Roman"/>
              <a:cs typeface="Times New Roman"/>
              <a:sym typeface="Times New Roman"/>
            </a:endParaRPr>
          </a:p>
          <a:p>
            <a:pPr indent="-355600" lvl="1" marL="9144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ξ &gt; 0 : ensures heavy-tail behavior (for financial extremes)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Scale parameter constraint:</a:t>
            </a:r>
            <a:endParaRPr sz="2000">
              <a:solidFill>
                <a:schemeClr val="dk1"/>
              </a:solidFill>
              <a:latin typeface="Times New Roman"/>
              <a:ea typeface="Times New Roman"/>
              <a:cs typeface="Times New Roman"/>
              <a:sym typeface="Times New Roman"/>
            </a:endParaRPr>
          </a:p>
          <a:p>
            <a:pPr indent="-355600" lvl="1" marL="9144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β &gt; 0 : keeps distribution well-defined</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Threshold selection:</a:t>
            </a:r>
            <a:endParaRPr sz="2000">
              <a:solidFill>
                <a:schemeClr val="dk1"/>
              </a:solidFill>
              <a:latin typeface="Times New Roman"/>
              <a:ea typeface="Times New Roman"/>
              <a:cs typeface="Times New Roman"/>
              <a:sym typeface="Times New Roman"/>
            </a:endParaRPr>
          </a:p>
          <a:p>
            <a:pPr indent="-355600" lvl="1" marL="9144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Only values above a certain cutoff are considered (focus on extremes only)</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Inequality Condition:</a:t>
            </a:r>
            <a:br>
              <a:rPr b="1" lang="en-US" sz="2000">
                <a:solidFill>
                  <a:schemeClr val="dk1"/>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 </a:t>
            </a:r>
            <a:r>
              <a:rPr b="1" lang="en-US" sz="2000">
                <a:solidFill>
                  <a:schemeClr val="dk1"/>
                </a:solidFill>
                <a:latin typeface="Times New Roman"/>
                <a:ea typeface="Times New Roman"/>
                <a:cs typeface="Times New Roman"/>
                <a:sym typeface="Times New Roman"/>
              </a:rPr>
              <a:t>1+ξ</a:t>
            </a:r>
            <a:r>
              <a:rPr b="1" lang="en-US" sz="2000">
                <a:solidFill>
                  <a:schemeClr val="dk1"/>
                </a:solidFill>
                <a:latin typeface="Times New Roman"/>
                <a:ea typeface="Times New Roman"/>
                <a:cs typeface="Times New Roman"/>
                <a:sym typeface="Times New Roman"/>
              </a:rPr>
              <a:t>x/</a:t>
            </a:r>
            <a:r>
              <a:rPr b="1" lang="en-US" sz="2000">
                <a:solidFill>
                  <a:schemeClr val="dk1"/>
                </a:solidFill>
                <a:latin typeface="Times New Roman"/>
                <a:ea typeface="Times New Roman"/>
                <a:cs typeface="Times New Roman"/>
                <a:sym typeface="Times New Roman"/>
              </a:rPr>
              <a:t>β &gt; 0 </a:t>
            </a:r>
            <a:endParaRPr b="1"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solidFill>
                  <a:schemeClr val="dk1"/>
                </a:solidFill>
                <a:latin typeface="Times New Roman"/>
                <a:ea typeface="Times New Roman"/>
                <a:cs typeface="Times New Roman"/>
                <a:sym typeface="Times New Roman"/>
              </a:rPr>
              <a:t>Why This Matters:</a:t>
            </a:r>
            <a:endParaRPr b="1"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Keeps the probability distribution valid</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Avoids undefined or negative probabilities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Stabilizes parameter estimation</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0" lang="en-US">
                <a:latin typeface="Helvetica Neue"/>
                <a:ea typeface="Helvetica Neue"/>
                <a:cs typeface="Helvetica Neue"/>
                <a:sym typeface="Helvetica Neue"/>
              </a:rPr>
              <a:t>|  </a:t>
            </a:r>
            <a:fld id="{00000000-1234-1234-1234-123412341234}" type="slidenum">
              <a:rPr b="0" lang="en-US">
                <a:latin typeface="Helvetica Neue"/>
                <a:ea typeface="Helvetica Neue"/>
                <a:cs typeface="Helvetica Neue"/>
                <a:sym typeface="Helvetica Neue"/>
              </a:rPr>
              <a:t>‹#›</a:t>
            </a:fld>
            <a:endParaRPr b="0">
              <a:latin typeface="Helvetica Neue"/>
              <a:ea typeface="Helvetica Neue"/>
              <a:cs typeface="Helvetica Neue"/>
              <a:sym typeface="Helvetica Neue"/>
            </a:endParaRPr>
          </a:p>
        </p:txBody>
      </p:sp>
      <p:sp>
        <p:nvSpPr>
          <p:cNvPr id="149" name="Google Shape;149;p21"/>
          <p:cNvSpPr txBox="1"/>
          <p:nvPr/>
        </p:nvSpPr>
        <p:spPr>
          <a:xfrm>
            <a:off x="0" y="398875"/>
            <a:ext cx="121920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000">
                <a:solidFill>
                  <a:schemeClr val="dk2"/>
                </a:solidFill>
                <a:latin typeface="Times New Roman"/>
                <a:ea typeface="Times New Roman"/>
                <a:cs typeface="Times New Roman"/>
                <a:sym typeface="Times New Roman"/>
              </a:rPr>
              <a:t>Deterministic Approach </a:t>
            </a:r>
            <a:endParaRPr b="1" sz="4000">
              <a:solidFill>
                <a:schemeClr val="dk2"/>
              </a:solidFill>
              <a:latin typeface="Times New Roman"/>
              <a:ea typeface="Times New Roman"/>
              <a:cs typeface="Times New Roman"/>
              <a:sym typeface="Times New Roman"/>
            </a:endParaRPr>
          </a:p>
        </p:txBody>
      </p:sp>
      <p:sp>
        <p:nvSpPr>
          <p:cNvPr id="150" name="Google Shape;150;p21"/>
          <p:cNvSpPr txBox="1"/>
          <p:nvPr/>
        </p:nvSpPr>
        <p:spPr>
          <a:xfrm>
            <a:off x="971425" y="1082275"/>
            <a:ext cx="7512000" cy="526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700">
                <a:solidFill>
                  <a:schemeClr val="dk1"/>
                </a:solidFill>
                <a:latin typeface="Times New Roman"/>
                <a:ea typeface="Times New Roman"/>
                <a:cs typeface="Times New Roman"/>
                <a:sym typeface="Times New Roman"/>
              </a:rPr>
              <a:t>Deterministic Approach (MLE-Baseline Model):</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latin typeface="Times New Roman"/>
                <a:ea typeface="Times New Roman"/>
                <a:cs typeface="Times New Roman"/>
                <a:sym typeface="Times New Roman"/>
              </a:rPr>
              <a:t>Use of Maximum Likelihood Estimation (MLE)</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latin typeface="Times New Roman"/>
                <a:ea typeface="Times New Roman"/>
                <a:cs typeface="Times New Roman"/>
                <a:sym typeface="Times New Roman"/>
              </a:rPr>
              <a:t>No randomness, no prior → purely based on data</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Same input → same output </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700">
                <a:solidFill>
                  <a:schemeClr val="dk1"/>
                </a:solidFill>
                <a:latin typeface="Times New Roman"/>
                <a:ea typeface="Times New Roman"/>
                <a:cs typeface="Times New Roman"/>
                <a:sym typeface="Times New Roman"/>
              </a:rPr>
              <a:t>Goal:</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To find parameters (ξ, β)</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Based on GPD log-likelihood function</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700">
                <a:solidFill>
                  <a:schemeClr val="dk1"/>
                </a:solidFill>
                <a:latin typeface="Times New Roman"/>
                <a:ea typeface="Times New Roman"/>
                <a:cs typeface="Times New Roman"/>
                <a:sym typeface="Times New Roman"/>
              </a:rPr>
              <a:t>Uses:</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Historical tail data (loss &gt; 2%)</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Fixed mathematical optimisation</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700">
                <a:solidFill>
                  <a:schemeClr val="dk1"/>
                </a:solidFill>
                <a:latin typeface="Times New Roman"/>
                <a:ea typeface="Times New Roman"/>
                <a:cs typeface="Times New Roman"/>
                <a:sym typeface="Times New Roman"/>
              </a:rPr>
              <a:t>  Key Idea:</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No external assumptions.</a:t>
            </a:r>
            <a:endParaRPr sz="1700">
              <a:solidFill>
                <a:schemeClr val="dk1"/>
              </a:solidFill>
              <a:latin typeface="Times New Roman"/>
              <a:ea typeface="Times New Roman"/>
              <a:cs typeface="Times New Roman"/>
              <a:sym typeface="Times New Roman"/>
            </a:endParaRPr>
          </a:p>
          <a:p>
            <a:pPr indent="0" lvl="0" marL="0" rtl="0" algn="l">
              <a:lnSpc>
                <a:spcPct val="90000"/>
              </a:lnSpc>
              <a:spcBef>
                <a:spcPts val="1200"/>
              </a:spcBef>
              <a:spcAft>
                <a:spcPts val="0"/>
              </a:spcAft>
              <a:buNone/>
            </a:pPr>
            <a:r>
              <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0" lang="en-US">
                <a:solidFill>
                  <a:schemeClr val="dk1"/>
                </a:solidFill>
                <a:latin typeface="Times New Roman"/>
                <a:ea typeface="Times New Roman"/>
                <a:cs typeface="Times New Roman"/>
                <a:sym typeface="Times New Roman"/>
              </a:rPr>
              <a:t>|  </a:t>
            </a:r>
            <a:fld id="{00000000-1234-1234-1234-123412341234}" type="slidenum">
              <a:rPr b="0" lang="en-US">
                <a:solidFill>
                  <a:schemeClr val="dk1"/>
                </a:solidFill>
                <a:latin typeface="Times New Roman"/>
                <a:ea typeface="Times New Roman"/>
                <a:cs typeface="Times New Roman"/>
                <a:sym typeface="Times New Roman"/>
              </a:rPr>
              <a:t>‹#›</a:t>
            </a:fld>
            <a:endParaRPr b="0">
              <a:solidFill>
                <a:schemeClr val="dk1"/>
              </a:solidFill>
              <a:latin typeface="Times New Roman"/>
              <a:ea typeface="Times New Roman"/>
              <a:cs typeface="Times New Roman"/>
              <a:sym typeface="Times New Roman"/>
            </a:endParaRPr>
          </a:p>
        </p:txBody>
      </p:sp>
      <p:sp>
        <p:nvSpPr>
          <p:cNvPr id="156" name="Google Shape;156;p22"/>
          <p:cNvSpPr txBox="1"/>
          <p:nvPr/>
        </p:nvSpPr>
        <p:spPr>
          <a:xfrm>
            <a:off x="0" y="398875"/>
            <a:ext cx="121920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000">
                <a:solidFill>
                  <a:schemeClr val="dk2"/>
                </a:solidFill>
                <a:latin typeface="Times New Roman"/>
                <a:ea typeface="Times New Roman"/>
                <a:cs typeface="Times New Roman"/>
                <a:sym typeface="Times New Roman"/>
              </a:rPr>
              <a:t>Deterministic Approach </a:t>
            </a:r>
            <a:endParaRPr b="1" sz="4000">
              <a:solidFill>
                <a:schemeClr val="dk2"/>
              </a:solidFill>
              <a:latin typeface="Times New Roman"/>
              <a:ea typeface="Times New Roman"/>
              <a:cs typeface="Times New Roman"/>
              <a:sym typeface="Times New Roman"/>
            </a:endParaRPr>
          </a:p>
        </p:txBody>
      </p:sp>
      <p:sp>
        <p:nvSpPr>
          <p:cNvPr id="157" name="Google Shape;157;p22"/>
          <p:cNvSpPr txBox="1"/>
          <p:nvPr/>
        </p:nvSpPr>
        <p:spPr>
          <a:xfrm>
            <a:off x="1159925" y="1082275"/>
            <a:ext cx="4583100" cy="4659600"/>
          </a:xfrm>
          <a:prstGeom prst="rect">
            <a:avLst/>
          </a:prstGeom>
          <a:noFill/>
          <a:ln>
            <a:noFill/>
          </a:ln>
        </p:spPr>
        <p:txBody>
          <a:bodyPr anchorCtr="0" anchor="t" bIns="91425" lIns="91425" spcFirstLastPara="1" rIns="91425" wrap="square" tIns="91425">
            <a:spAutoFit/>
          </a:bodyPr>
          <a:lstStyle/>
          <a:p>
            <a:pPr indent="-336550" lvl="0" marL="457200" rtl="0" algn="l">
              <a:lnSpc>
                <a:spcPct val="105000"/>
              </a:lnSpc>
              <a:spcBef>
                <a:spcPts val="1200"/>
              </a:spcBef>
              <a:spcAft>
                <a:spcPts val="0"/>
              </a:spcAft>
              <a:buClr>
                <a:schemeClr val="dk1"/>
              </a:buClr>
              <a:buSzPts val="1700"/>
              <a:buFont typeface="Helvetica Neue"/>
              <a:buChar char="●"/>
            </a:pPr>
            <a:r>
              <a:rPr b="1" lang="en-US" sz="1700">
                <a:solidFill>
                  <a:schemeClr val="dk1"/>
                </a:solidFill>
                <a:latin typeface="Times New Roman"/>
                <a:ea typeface="Times New Roman"/>
                <a:cs typeface="Times New Roman"/>
                <a:sym typeface="Times New Roman"/>
              </a:rPr>
              <a:t>Input:</a:t>
            </a:r>
            <a:r>
              <a:rPr lang="en-US" sz="1700">
                <a:solidFill>
                  <a:schemeClr val="dk1"/>
                </a:solidFill>
                <a:latin typeface="Times New Roman"/>
                <a:ea typeface="Times New Roman"/>
                <a:cs typeface="Times New Roman"/>
                <a:sym typeface="Times New Roman"/>
              </a:rPr>
              <a:t> Nifty, S&amp;P 500, Gold volatility</a:t>
            </a:r>
            <a:endParaRPr sz="1700">
              <a:solidFill>
                <a:schemeClr val="dk1"/>
              </a:solidFill>
              <a:latin typeface="Times New Roman"/>
              <a:ea typeface="Times New Roman"/>
              <a:cs typeface="Times New Roman"/>
              <a:sym typeface="Times New Roman"/>
            </a:endParaRPr>
          </a:p>
          <a:p>
            <a:pPr indent="-336550" lvl="0" marL="457200" rtl="0" algn="l">
              <a:lnSpc>
                <a:spcPct val="10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Steps:</a:t>
            </a:r>
            <a:endParaRPr b="1" sz="1700">
              <a:solidFill>
                <a:schemeClr val="dk1"/>
              </a:solidFill>
              <a:latin typeface="Times New Roman"/>
              <a:ea typeface="Times New Roman"/>
              <a:cs typeface="Times New Roman"/>
              <a:sym typeface="Times New Roman"/>
            </a:endParaRPr>
          </a:p>
          <a:p>
            <a:pPr indent="-336550" lvl="1" marL="914400" rtl="0" algn="l">
              <a:lnSpc>
                <a:spcPct val="10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Build GPD model</a:t>
            </a:r>
            <a:endParaRPr sz="1700">
              <a:solidFill>
                <a:schemeClr val="dk1"/>
              </a:solidFill>
              <a:latin typeface="Times New Roman"/>
              <a:ea typeface="Times New Roman"/>
              <a:cs typeface="Times New Roman"/>
              <a:sym typeface="Times New Roman"/>
            </a:endParaRPr>
          </a:p>
          <a:p>
            <a:pPr indent="-336550" lvl="1" marL="914400" rtl="0" algn="l">
              <a:lnSpc>
                <a:spcPct val="10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Maximise likelihood</a:t>
            </a:r>
            <a:endParaRPr sz="1700">
              <a:solidFill>
                <a:schemeClr val="dk1"/>
              </a:solidFill>
              <a:latin typeface="Times New Roman"/>
              <a:ea typeface="Times New Roman"/>
              <a:cs typeface="Times New Roman"/>
              <a:sym typeface="Times New Roman"/>
            </a:endParaRPr>
          </a:p>
          <a:p>
            <a:pPr indent="-336550" lvl="1" marL="914400" rtl="0" algn="l">
              <a:lnSpc>
                <a:spcPct val="10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Estimate parameters (ξ, β)</a:t>
            </a:r>
            <a:endParaRPr sz="1700">
              <a:solidFill>
                <a:schemeClr val="dk1"/>
              </a:solidFill>
              <a:latin typeface="Times New Roman"/>
              <a:ea typeface="Times New Roman"/>
              <a:cs typeface="Times New Roman"/>
              <a:sym typeface="Times New Roman"/>
            </a:endParaRPr>
          </a:p>
          <a:p>
            <a:pPr indent="-336550" lvl="0" marL="457200" rtl="0" algn="l">
              <a:lnSpc>
                <a:spcPct val="10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Outputs:</a:t>
            </a:r>
            <a:endParaRPr b="1" sz="1700">
              <a:solidFill>
                <a:schemeClr val="dk1"/>
              </a:solidFill>
              <a:latin typeface="Times New Roman"/>
              <a:ea typeface="Times New Roman"/>
              <a:cs typeface="Times New Roman"/>
              <a:sym typeface="Times New Roman"/>
            </a:endParaRPr>
          </a:p>
          <a:p>
            <a:pPr indent="-336550" lvl="1" marL="914400" rtl="0" algn="l">
              <a:lnSpc>
                <a:spcPct val="10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Crash probability (&gt;5% loss)</a:t>
            </a:r>
            <a:endParaRPr sz="1700">
              <a:solidFill>
                <a:schemeClr val="dk1"/>
              </a:solidFill>
              <a:latin typeface="Times New Roman"/>
              <a:ea typeface="Times New Roman"/>
              <a:cs typeface="Times New Roman"/>
              <a:sym typeface="Times New Roman"/>
            </a:endParaRPr>
          </a:p>
          <a:p>
            <a:pPr indent="-336550" lvl="1" marL="914400" rtl="0" algn="l">
              <a:lnSpc>
                <a:spcPct val="10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Expected loss</a:t>
            </a:r>
            <a:endParaRPr sz="1700">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0"/>
              </a:spcAft>
              <a:buNone/>
            </a:pPr>
            <a:r>
              <a:rPr b="1" lang="en-US" sz="1700">
                <a:solidFill>
                  <a:schemeClr val="dk1"/>
                </a:solidFill>
                <a:latin typeface="Times New Roman"/>
                <a:ea typeface="Times New Roman"/>
                <a:cs typeface="Times New Roman"/>
                <a:sym typeface="Times New Roman"/>
              </a:rPr>
              <a:t>Advantages</a:t>
            </a:r>
            <a:endParaRPr b="1" sz="1700">
              <a:solidFill>
                <a:schemeClr val="dk1"/>
              </a:solidFill>
              <a:latin typeface="Times New Roman"/>
              <a:ea typeface="Times New Roman"/>
              <a:cs typeface="Times New Roman"/>
              <a:sym typeface="Times New Roman"/>
            </a:endParaRPr>
          </a:p>
          <a:p>
            <a:pPr indent="-336550" lvl="0" marL="457200" rtl="0" algn="l">
              <a:lnSpc>
                <a:spcPct val="10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Data driven</a:t>
            </a:r>
            <a:endParaRPr sz="1700">
              <a:solidFill>
                <a:schemeClr val="dk1"/>
              </a:solidFill>
              <a:latin typeface="Times New Roman"/>
              <a:ea typeface="Times New Roman"/>
              <a:cs typeface="Times New Roman"/>
              <a:sym typeface="Times New Roman"/>
            </a:endParaRPr>
          </a:p>
          <a:p>
            <a:pPr indent="-336550" lvl="0" marL="457200" rtl="0" algn="l">
              <a:lnSpc>
                <a:spcPct val="10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No assumptions</a:t>
            </a:r>
            <a:endParaRPr sz="1700">
              <a:solidFill>
                <a:schemeClr val="dk1"/>
              </a:solidFill>
              <a:latin typeface="Times New Roman"/>
              <a:ea typeface="Times New Roman"/>
              <a:cs typeface="Times New Roman"/>
              <a:sym typeface="Times New Roman"/>
            </a:endParaRPr>
          </a:p>
          <a:p>
            <a:pPr indent="0" lvl="0" marL="0" rtl="0" algn="l">
              <a:lnSpc>
                <a:spcPct val="105000"/>
              </a:lnSpc>
              <a:spcBef>
                <a:spcPts val="1400"/>
              </a:spcBef>
              <a:spcAft>
                <a:spcPts val="0"/>
              </a:spcAft>
              <a:buNone/>
            </a:pPr>
            <a:r>
              <a:rPr b="1" lang="en-US" sz="1700">
                <a:solidFill>
                  <a:schemeClr val="dk1"/>
                </a:solidFill>
                <a:latin typeface="Times New Roman"/>
                <a:ea typeface="Times New Roman"/>
                <a:cs typeface="Times New Roman"/>
                <a:sym typeface="Times New Roman"/>
              </a:rPr>
              <a:t>Limitations</a:t>
            </a:r>
            <a:endParaRPr b="1" sz="1700">
              <a:solidFill>
                <a:schemeClr val="dk1"/>
              </a:solidFill>
              <a:latin typeface="Times New Roman"/>
              <a:ea typeface="Times New Roman"/>
              <a:cs typeface="Times New Roman"/>
              <a:sym typeface="Times New Roman"/>
            </a:endParaRPr>
          </a:p>
          <a:p>
            <a:pPr indent="-336550" lvl="0" marL="457200" rtl="0" algn="l">
              <a:lnSpc>
                <a:spcPct val="10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No  uncertainty</a:t>
            </a:r>
            <a:endParaRPr sz="1700">
              <a:solidFill>
                <a:schemeClr val="dk1"/>
              </a:solidFill>
              <a:latin typeface="Times New Roman"/>
              <a:ea typeface="Times New Roman"/>
              <a:cs typeface="Times New Roman"/>
              <a:sym typeface="Times New Roman"/>
            </a:endParaRPr>
          </a:p>
          <a:p>
            <a:pPr indent="-336550" lvl="0" marL="457200" rtl="0" algn="l">
              <a:lnSpc>
                <a:spcPct val="10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May overfit small data</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0" lang="en-US">
                <a:latin typeface="Helvetica Neue"/>
                <a:ea typeface="Helvetica Neue"/>
                <a:cs typeface="Helvetica Neue"/>
                <a:sym typeface="Helvetica Neue"/>
              </a:rPr>
              <a:t>|  </a:t>
            </a:r>
            <a:fld id="{00000000-1234-1234-1234-123412341234}" type="slidenum">
              <a:rPr b="0" lang="en-US">
                <a:latin typeface="Helvetica Neue"/>
                <a:ea typeface="Helvetica Neue"/>
                <a:cs typeface="Helvetica Neue"/>
                <a:sym typeface="Helvetica Neue"/>
              </a:rPr>
              <a:t>‹#›</a:t>
            </a:fld>
            <a:endParaRPr b="0">
              <a:latin typeface="Helvetica Neue"/>
              <a:ea typeface="Helvetica Neue"/>
              <a:cs typeface="Helvetica Neue"/>
              <a:sym typeface="Helvetica Neue"/>
            </a:endParaRPr>
          </a:p>
        </p:txBody>
      </p:sp>
      <p:sp>
        <p:nvSpPr>
          <p:cNvPr id="163" name="Google Shape;163;p23"/>
          <p:cNvSpPr txBox="1"/>
          <p:nvPr/>
        </p:nvSpPr>
        <p:spPr>
          <a:xfrm>
            <a:off x="0" y="398875"/>
            <a:ext cx="121920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000">
                <a:solidFill>
                  <a:schemeClr val="dk2"/>
                </a:solidFill>
                <a:latin typeface="Times New Roman"/>
                <a:ea typeface="Times New Roman"/>
                <a:cs typeface="Times New Roman"/>
                <a:sym typeface="Times New Roman"/>
              </a:rPr>
              <a:t>Randomized Approach</a:t>
            </a:r>
            <a:endParaRPr b="1" sz="4000">
              <a:solidFill>
                <a:schemeClr val="dk2"/>
              </a:solidFill>
              <a:latin typeface="Times New Roman"/>
              <a:ea typeface="Times New Roman"/>
              <a:cs typeface="Times New Roman"/>
              <a:sym typeface="Times New Roman"/>
            </a:endParaRPr>
          </a:p>
        </p:txBody>
      </p:sp>
      <p:sp>
        <p:nvSpPr>
          <p:cNvPr id="164" name="Google Shape;164;p23"/>
          <p:cNvSpPr txBox="1"/>
          <p:nvPr/>
        </p:nvSpPr>
        <p:spPr>
          <a:xfrm>
            <a:off x="1058425" y="1137775"/>
            <a:ext cx="8425200" cy="531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Randomized Approach (Bayesian + Monte Carlo):</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latin typeface="Times New Roman"/>
                <a:ea typeface="Times New Roman"/>
                <a:cs typeface="Times New Roman"/>
                <a:sym typeface="Times New Roman"/>
              </a:rPr>
              <a:t>Use of Bayesian MAP estimation + simulation</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latin typeface="Times New Roman"/>
                <a:ea typeface="Times New Roman"/>
                <a:cs typeface="Times New Roman"/>
                <a:sym typeface="Times New Roman"/>
              </a:rPr>
              <a:t>Adds prior knowledge + randomness</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Output may vary across runs</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Key Idea:</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Combination of Likelihood (data)  and Prior (beliefs).</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1700">
                <a:solidFill>
                  <a:schemeClr val="dk1"/>
                </a:solidFill>
                <a:latin typeface="Times New Roman"/>
                <a:ea typeface="Times New Roman"/>
                <a:cs typeface="Times New Roman"/>
                <a:sym typeface="Times New Roman"/>
              </a:rPr>
              <a:t>MAP Objective:</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Likelihood + Prior → give better estimation</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700">
                <a:solidFill>
                  <a:schemeClr val="dk1"/>
                </a:solidFill>
                <a:latin typeface="Times New Roman"/>
                <a:ea typeface="Times New Roman"/>
                <a:cs typeface="Times New Roman"/>
                <a:sym typeface="Times New Roman"/>
              </a:rPr>
              <a:t>Randomness comes from:</a:t>
            </a:r>
            <a:endParaRPr b="1" sz="1700">
              <a:solidFill>
                <a:schemeClr val="dk1"/>
              </a:solidFill>
              <a:latin typeface="Times New Roman"/>
              <a:ea typeface="Times New Roman"/>
              <a:cs typeface="Times New Roman"/>
              <a:sym typeface="Times New Roman"/>
            </a:endParaRPr>
          </a:p>
          <a:p>
            <a:pPr indent="-336550" lvl="0" marL="457200" rtl="0" algn="l">
              <a:lnSpc>
                <a:spcPct val="11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Monte Carlo simulations (100 datasets)</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Random parameter generation</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Different possible market scenarios </a:t>
            </a:r>
            <a:endParaRPr sz="1700">
              <a:solidFill>
                <a:schemeClr val="dk1"/>
              </a:solidFill>
              <a:latin typeface="Times New Roman"/>
              <a:ea typeface="Times New Roman"/>
              <a:cs typeface="Times New Roman"/>
              <a:sym typeface="Times New Roman"/>
            </a:endParaRPr>
          </a:p>
          <a:p>
            <a:pPr indent="0" lvl="0" marL="0" rtl="0" algn="l">
              <a:lnSpc>
                <a:spcPct val="90000"/>
              </a:lnSpc>
              <a:spcBef>
                <a:spcPts val="1200"/>
              </a:spcBef>
              <a:spcAft>
                <a:spcPts val="0"/>
              </a:spcAft>
              <a:buNone/>
            </a:pPr>
            <a:r>
              <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0" lang="en-US">
                <a:latin typeface="Helvetica Neue"/>
                <a:ea typeface="Helvetica Neue"/>
                <a:cs typeface="Helvetica Neue"/>
                <a:sym typeface="Helvetica Neue"/>
              </a:rPr>
              <a:t>|  </a:t>
            </a:r>
            <a:fld id="{00000000-1234-1234-1234-123412341234}" type="slidenum">
              <a:rPr b="0" lang="en-US">
                <a:latin typeface="Helvetica Neue"/>
                <a:ea typeface="Helvetica Neue"/>
                <a:cs typeface="Helvetica Neue"/>
                <a:sym typeface="Helvetica Neue"/>
              </a:rPr>
              <a:t>‹#›</a:t>
            </a:fld>
            <a:endParaRPr b="0">
              <a:latin typeface="Helvetica Neue"/>
              <a:ea typeface="Helvetica Neue"/>
              <a:cs typeface="Helvetica Neue"/>
              <a:sym typeface="Helvetica Neue"/>
            </a:endParaRPr>
          </a:p>
        </p:txBody>
      </p:sp>
      <p:sp>
        <p:nvSpPr>
          <p:cNvPr id="170" name="Google Shape;170;p24"/>
          <p:cNvSpPr txBox="1"/>
          <p:nvPr/>
        </p:nvSpPr>
        <p:spPr>
          <a:xfrm>
            <a:off x="0" y="398875"/>
            <a:ext cx="121920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000">
                <a:solidFill>
                  <a:schemeClr val="dk2"/>
                </a:solidFill>
                <a:latin typeface="Times New Roman"/>
                <a:ea typeface="Times New Roman"/>
                <a:cs typeface="Times New Roman"/>
                <a:sym typeface="Times New Roman"/>
              </a:rPr>
              <a:t>Randomized Approach</a:t>
            </a:r>
            <a:endParaRPr b="1" sz="4000">
              <a:solidFill>
                <a:schemeClr val="dk2"/>
              </a:solidFill>
              <a:latin typeface="Times New Roman"/>
              <a:ea typeface="Times New Roman"/>
              <a:cs typeface="Times New Roman"/>
              <a:sym typeface="Times New Roman"/>
            </a:endParaRPr>
          </a:p>
        </p:txBody>
      </p:sp>
      <p:sp>
        <p:nvSpPr>
          <p:cNvPr id="171" name="Google Shape;171;p24"/>
          <p:cNvSpPr txBox="1"/>
          <p:nvPr/>
        </p:nvSpPr>
        <p:spPr>
          <a:xfrm>
            <a:off x="956950" y="1137775"/>
            <a:ext cx="5453100" cy="3733800"/>
          </a:xfrm>
          <a:prstGeom prst="rect">
            <a:avLst/>
          </a:prstGeom>
          <a:noFill/>
          <a:ln>
            <a:noFill/>
          </a:ln>
        </p:spPr>
        <p:txBody>
          <a:bodyPr anchorCtr="0" anchor="t" bIns="91425" lIns="91425" spcFirstLastPara="1" rIns="91425" wrap="square" tIns="91425">
            <a:spAutoFit/>
          </a:bodyPr>
          <a:lstStyle/>
          <a:p>
            <a:pPr indent="-336550" lvl="0" marL="457200" rtl="0" algn="l">
              <a:lnSpc>
                <a:spcPct val="95000"/>
              </a:lnSpc>
              <a:spcBef>
                <a:spcPts val="120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Steps:</a:t>
            </a:r>
            <a:endParaRPr b="1" sz="1700">
              <a:solidFill>
                <a:schemeClr val="dk1"/>
              </a:solidFill>
              <a:latin typeface="Times New Roman"/>
              <a:ea typeface="Times New Roman"/>
              <a:cs typeface="Times New Roman"/>
              <a:sym typeface="Times New Roman"/>
            </a:endParaRPr>
          </a:p>
          <a:p>
            <a:pPr indent="-336550" lvl="1" marL="914400" rtl="0" algn="l">
              <a:lnSpc>
                <a:spcPct val="9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Generate random datasets</a:t>
            </a:r>
            <a:endParaRPr sz="1700">
              <a:solidFill>
                <a:schemeClr val="dk1"/>
              </a:solidFill>
              <a:latin typeface="Times New Roman"/>
              <a:ea typeface="Times New Roman"/>
              <a:cs typeface="Times New Roman"/>
              <a:sym typeface="Times New Roman"/>
            </a:endParaRPr>
          </a:p>
          <a:p>
            <a:pPr indent="-336550" lvl="1" marL="914400" rtl="0" algn="l">
              <a:lnSpc>
                <a:spcPct val="9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Fit model using different priors:</a:t>
            </a:r>
            <a:endParaRPr sz="1700">
              <a:solidFill>
                <a:schemeClr val="dk1"/>
              </a:solidFill>
              <a:latin typeface="Times New Roman"/>
              <a:ea typeface="Times New Roman"/>
              <a:cs typeface="Times New Roman"/>
              <a:sym typeface="Times New Roman"/>
            </a:endParaRPr>
          </a:p>
          <a:p>
            <a:pPr indent="-336550" lvl="2" marL="1371600" rtl="0" algn="l">
              <a:lnSpc>
                <a:spcPct val="9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Cauchy (baseline)</a:t>
            </a:r>
            <a:endParaRPr sz="1700">
              <a:solidFill>
                <a:schemeClr val="dk1"/>
              </a:solidFill>
              <a:latin typeface="Times New Roman"/>
              <a:ea typeface="Times New Roman"/>
              <a:cs typeface="Times New Roman"/>
              <a:sym typeface="Times New Roman"/>
            </a:endParaRPr>
          </a:p>
          <a:p>
            <a:pPr indent="-336550" lvl="2" marL="1371600" rtl="0" algn="l">
              <a:lnSpc>
                <a:spcPct val="9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Lasso (sparse)</a:t>
            </a:r>
            <a:endParaRPr sz="1700">
              <a:solidFill>
                <a:schemeClr val="dk1"/>
              </a:solidFill>
              <a:latin typeface="Times New Roman"/>
              <a:ea typeface="Times New Roman"/>
              <a:cs typeface="Times New Roman"/>
              <a:sym typeface="Times New Roman"/>
            </a:endParaRPr>
          </a:p>
          <a:p>
            <a:pPr indent="-336550" lvl="2" marL="1371600" rtl="0" algn="l">
              <a:lnSpc>
                <a:spcPct val="9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Ridge (smooth)</a:t>
            </a:r>
            <a:endParaRPr sz="1700">
              <a:solidFill>
                <a:schemeClr val="dk1"/>
              </a:solidFill>
              <a:latin typeface="Times New Roman"/>
              <a:ea typeface="Times New Roman"/>
              <a:cs typeface="Times New Roman"/>
              <a:sym typeface="Times New Roman"/>
            </a:endParaRPr>
          </a:p>
          <a:p>
            <a:pPr indent="-336550" lvl="2" marL="1371600" rtl="0" algn="l">
              <a:lnSpc>
                <a:spcPct val="9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g-prior (data-based)</a:t>
            </a:r>
            <a:endParaRPr sz="1700">
              <a:solidFill>
                <a:schemeClr val="dk1"/>
              </a:solidFill>
              <a:latin typeface="Times New Roman"/>
              <a:ea typeface="Times New Roman"/>
              <a:cs typeface="Times New Roman"/>
              <a:sym typeface="Times New Roman"/>
            </a:endParaRPr>
          </a:p>
          <a:p>
            <a:pPr indent="-336550" lvl="1" marL="914400" rtl="0" algn="l">
              <a:lnSpc>
                <a:spcPct val="9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Compare performance</a:t>
            </a:r>
            <a:endParaRPr sz="1700">
              <a:solidFill>
                <a:schemeClr val="dk1"/>
              </a:solidFill>
              <a:latin typeface="Times New Roman"/>
              <a:ea typeface="Times New Roman"/>
              <a:cs typeface="Times New Roman"/>
              <a:sym typeface="Times New Roman"/>
            </a:endParaRPr>
          </a:p>
          <a:p>
            <a:pPr indent="0" lvl="0" marL="0" rtl="0" algn="l">
              <a:lnSpc>
                <a:spcPct val="95000"/>
              </a:lnSpc>
              <a:spcBef>
                <a:spcPts val="1400"/>
              </a:spcBef>
              <a:spcAft>
                <a:spcPts val="0"/>
              </a:spcAft>
              <a:buNone/>
            </a:pPr>
            <a:r>
              <a:rPr b="1" lang="en-US" sz="1700">
                <a:solidFill>
                  <a:schemeClr val="dk1"/>
                </a:solidFill>
                <a:latin typeface="Times New Roman"/>
                <a:ea typeface="Times New Roman"/>
                <a:cs typeface="Times New Roman"/>
                <a:sym typeface="Times New Roman"/>
              </a:rPr>
              <a:t>Outputs</a:t>
            </a:r>
            <a:endParaRPr b="1" sz="1700">
              <a:solidFill>
                <a:schemeClr val="dk1"/>
              </a:solidFill>
              <a:latin typeface="Times New Roman"/>
              <a:ea typeface="Times New Roman"/>
              <a:cs typeface="Times New Roman"/>
              <a:sym typeface="Times New Roman"/>
            </a:endParaRPr>
          </a:p>
          <a:p>
            <a:pPr indent="-336550" lvl="0" marL="457200" rtl="0" algn="l">
              <a:lnSpc>
                <a:spcPct val="9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Crash probability curves</a:t>
            </a:r>
            <a:endParaRPr sz="1700">
              <a:solidFill>
                <a:schemeClr val="dk1"/>
              </a:solidFill>
              <a:latin typeface="Times New Roman"/>
              <a:ea typeface="Times New Roman"/>
              <a:cs typeface="Times New Roman"/>
              <a:sym typeface="Times New Roman"/>
            </a:endParaRPr>
          </a:p>
          <a:p>
            <a:pPr indent="-336550" lvl="0" marL="457200" rtl="0" algn="l">
              <a:lnSpc>
                <a:spcPct val="9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Multiple possible outcomes</a:t>
            </a:r>
            <a:endParaRPr sz="1700">
              <a:solidFill>
                <a:schemeClr val="dk1"/>
              </a:solidFill>
              <a:latin typeface="Times New Roman"/>
              <a:ea typeface="Times New Roman"/>
              <a:cs typeface="Times New Roman"/>
              <a:sym typeface="Times New Roman"/>
            </a:endParaRPr>
          </a:p>
          <a:p>
            <a:pPr indent="0" lvl="0" marL="0" rtl="0" algn="l">
              <a:lnSpc>
                <a:spcPct val="70000"/>
              </a:lnSpc>
              <a:spcBef>
                <a:spcPts val="1200"/>
              </a:spcBef>
              <a:spcAft>
                <a:spcPts val="0"/>
              </a:spcAft>
              <a:buNone/>
            </a:pPr>
            <a:r>
              <a:t/>
            </a:r>
            <a:endParaRPr sz="1700">
              <a:solidFill>
                <a:schemeClr val="dk1"/>
              </a:solidFill>
              <a:latin typeface="Times New Roman"/>
              <a:ea typeface="Times New Roman"/>
              <a:cs typeface="Times New Roman"/>
              <a:sym typeface="Times New Roman"/>
            </a:endParaRPr>
          </a:p>
        </p:txBody>
      </p:sp>
      <p:sp>
        <p:nvSpPr>
          <p:cNvPr id="172" name="Google Shape;172;p24"/>
          <p:cNvSpPr txBox="1"/>
          <p:nvPr/>
        </p:nvSpPr>
        <p:spPr>
          <a:xfrm>
            <a:off x="7133475" y="1137775"/>
            <a:ext cx="3930600" cy="22422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1400"/>
              </a:spcBef>
              <a:spcAft>
                <a:spcPts val="0"/>
              </a:spcAft>
              <a:buNone/>
            </a:pPr>
            <a:r>
              <a:rPr b="1" lang="en-US" sz="1700">
                <a:solidFill>
                  <a:schemeClr val="dk1"/>
                </a:solidFill>
                <a:latin typeface="Times New Roman"/>
                <a:ea typeface="Times New Roman"/>
                <a:cs typeface="Times New Roman"/>
                <a:sym typeface="Times New Roman"/>
              </a:rPr>
              <a:t>Advantages</a:t>
            </a:r>
            <a:endParaRPr b="1" sz="1700">
              <a:solidFill>
                <a:schemeClr val="dk1"/>
              </a:solidFill>
              <a:latin typeface="Times New Roman"/>
              <a:ea typeface="Times New Roman"/>
              <a:cs typeface="Times New Roman"/>
              <a:sym typeface="Times New Roman"/>
            </a:endParaRPr>
          </a:p>
          <a:p>
            <a:pPr indent="-336550" lvl="0" marL="457200" rtl="0" algn="l">
              <a:lnSpc>
                <a:spcPct val="9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Handles uncertainty</a:t>
            </a:r>
            <a:endParaRPr sz="1700">
              <a:solidFill>
                <a:schemeClr val="dk1"/>
              </a:solidFill>
              <a:latin typeface="Times New Roman"/>
              <a:ea typeface="Times New Roman"/>
              <a:cs typeface="Times New Roman"/>
              <a:sym typeface="Times New Roman"/>
            </a:endParaRPr>
          </a:p>
          <a:p>
            <a:pPr indent="-336550" lvl="0" marL="457200" rtl="0" algn="l">
              <a:lnSpc>
                <a:spcPct val="9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Better for risk analysis</a:t>
            </a:r>
            <a:endParaRPr sz="1700">
              <a:solidFill>
                <a:schemeClr val="dk1"/>
              </a:solidFill>
              <a:latin typeface="Times New Roman"/>
              <a:ea typeface="Times New Roman"/>
              <a:cs typeface="Times New Roman"/>
              <a:sym typeface="Times New Roman"/>
            </a:endParaRPr>
          </a:p>
          <a:p>
            <a:pPr indent="0" lvl="0" marL="0" rtl="0" algn="l">
              <a:lnSpc>
                <a:spcPct val="95000"/>
              </a:lnSpc>
              <a:spcBef>
                <a:spcPts val="1400"/>
              </a:spcBef>
              <a:spcAft>
                <a:spcPts val="0"/>
              </a:spcAft>
              <a:buNone/>
            </a:pPr>
            <a:r>
              <a:rPr b="1" lang="en-US" sz="1700">
                <a:solidFill>
                  <a:schemeClr val="dk1"/>
                </a:solidFill>
                <a:latin typeface="Times New Roman"/>
                <a:ea typeface="Times New Roman"/>
                <a:cs typeface="Times New Roman"/>
                <a:sym typeface="Times New Roman"/>
              </a:rPr>
              <a:t>Limitations</a:t>
            </a:r>
            <a:endParaRPr sz="1700">
              <a:solidFill>
                <a:schemeClr val="dk1"/>
              </a:solidFill>
              <a:latin typeface="Times New Roman"/>
              <a:ea typeface="Times New Roman"/>
              <a:cs typeface="Times New Roman"/>
              <a:sym typeface="Times New Roman"/>
            </a:endParaRPr>
          </a:p>
          <a:p>
            <a:pPr indent="-336550" lvl="0" marL="457200" rtl="0" algn="l">
              <a:lnSpc>
                <a:spcPct val="95000"/>
              </a:lnSpc>
              <a:spcBef>
                <a:spcPts val="12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Results vary each run</a:t>
            </a:r>
            <a:endParaRPr sz="1700">
              <a:solidFill>
                <a:schemeClr val="dk1"/>
              </a:solidFill>
              <a:latin typeface="Times New Roman"/>
              <a:ea typeface="Times New Roman"/>
              <a:cs typeface="Times New Roman"/>
              <a:sym typeface="Times New Roman"/>
            </a:endParaRPr>
          </a:p>
          <a:p>
            <a:pPr indent="-336550" lvl="0" marL="457200" rtl="0" algn="l">
              <a:lnSpc>
                <a:spcPct val="9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Higher computation</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0" lang="en-US">
                <a:latin typeface="Helvetica Neue"/>
                <a:ea typeface="Helvetica Neue"/>
                <a:cs typeface="Helvetica Neue"/>
                <a:sym typeface="Helvetica Neue"/>
              </a:rPr>
              <a:t>|  </a:t>
            </a:r>
            <a:fld id="{00000000-1234-1234-1234-123412341234}" type="slidenum">
              <a:rPr b="0" lang="en-US">
                <a:latin typeface="Helvetica Neue"/>
                <a:ea typeface="Helvetica Neue"/>
                <a:cs typeface="Helvetica Neue"/>
                <a:sym typeface="Helvetica Neue"/>
              </a:rPr>
              <a:t>‹#›</a:t>
            </a:fld>
            <a:endParaRPr b="0">
              <a:latin typeface="Helvetica Neue"/>
              <a:ea typeface="Helvetica Neue"/>
              <a:cs typeface="Helvetica Neue"/>
              <a:sym typeface="Helvetica Neue"/>
            </a:endParaRPr>
          </a:p>
        </p:txBody>
      </p:sp>
      <p:sp>
        <p:nvSpPr>
          <p:cNvPr id="178" name="Google Shape;178;p25"/>
          <p:cNvSpPr txBox="1"/>
          <p:nvPr/>
        </p:nvSpPr>
        <p:spPr>
          <a:xfrm>
            <a:off x="0" y="398875"/>
            <a:ext cx="121920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000">
                <a:solidFill>
                  <a:schemeClr val="dk2"/>
                </a:solidFill>
                <a:latin typeface="Times New Roman"/>
                <a:ea typeface="Times New Roman"/>
                <a:cs typeface="Times New Roman"/>
                <a:sym typeface="Times New Roman"/>
              </a:rPr>
              <a:t>Coding [Deterministic]</a:t>
            </a:r>
            <a:endParaRPr b="1" sz="4000">
              <a:solidFill>
                <a:schemeClr val="dk2"/>
              </a:solidFill>
              <a:latin typeface="Times New Roman"/>
              <a:ea typeface="Times New Roman"/>
              <a:cs typeface="Times New Roman"/>
              <a:sym typeface="Times New Roman"/>
            </a:endParaRPr>
          </a:p>
        </p:txBody>
      </p:sp>
      <p:sp>
        <p:nvSpPr>
          <p:cNvPr id="179" name="Google Shape;179;p25"/>
          <p:cNvSpPr txBox="1"/>
          <p:nvPr>
            <p:ph idx="1" type="body"/>
          </p:nvPr>
        </p:nvSpPr>
        <p:spPr>
          <a:xfrm>
            <a:off x="889850" y="1954038"/>
            <a:ext cx="5432700" cy="3494100"/>
          </a:xfrm>
          <a:prstGeom prst="rect">
            <a:avLst/>
          </a:prstGeom>
        </p:spPr>
        <p:txBody>
          <a:bodyPr anchorCtr="0" anchor="t" bIns="45700" lIns="91425" spcFirstLastPara="1" rIns="91425" wrap="square" tIns="45700">
            <a:spAutoFit/>
          </a:bodyPr>
          <a:lstStyle/>
          <a:p>
            <a:pPr indent="0" lvl="0" marL="0" rtl="0" algn="l">
              <a:lnSpc>
                <a:spcPct val="100000"/>
              </a:lnSpc>
              <a:spcBef>
                <a:spcPts val="0"/>
              </a:spcBef>
              <a:spcAft>
                <a:spcPts val="0"/>
              </a:spcAft>
              <a:buClr>
                <a:schemeClr val="dk1"/>
              </a:buClr>
              <a:buSzPts val="1100"/>
              <a:buFont typeface="Arial"/>
              <a:buNone/>
            </a:pPr>
            <a:r>
              <a:rPr b="1" lang="en-US" sz="1700">
                <a:solidFill>
                  <a:schemeClr val="dk1"/>
                </a:solidFill>
                <a:latin typeface="Times New Roman"/>
                <a:ea typeface="Times New Roman"/>
                <a:cs typeface="Times New Roman"/>
                <a:sym typeface="Times New Roman"/>
              </a:rPr>
              <a:t>SETUP</a:t>
            </a:r>
            <a:endParaRPr b="1"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download_data() → fetch market data</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ewma_vol()  → compute EWMA volatility</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prepare()  → construct dataset (y, X)</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en-US" sz="1700">
                <a:solidFill>
                  <a:schemeClr val="dk1"/>
                </a:solidFill>
                <a:latin typeface="Times New Roman"/>
                <a:ea typeface="Times New Roman"/>
                <a:cs typeface="Times New Roman"/>
                <a:sym typeface="Times New Roman"/>
              </a:rPr>
              <a:t>Design Matrix: X ∈ ℝ^(n×4)</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b="1" lang="en-US" sz="1700">
                <a:solidFill>
                  <a:schemeClr val="dk1"/>
                </a:solidFill>
                <a:latin typeface="Times New Roman"/>
                <a:ea typeface="Times New Roman"/>
                <a:cs typeface="Times New Roman"/>
                <a:sym typeface="Times New Roman"/>
              </a:rPr>
              <a:t>PRIORS IMPLEMENTED</a:t>
            </a:r>
            <a:endParaRPr b="1"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en-US" sz="1700">
                <a:solidFill>
                  <a:schemeClr val="dk1"/>
                </a:solidFill>
                <a:latin typeface="Times New Roman"/>
                <a:ea typeface="Times New Roman"/>
                <a:cs typeface="Times New Roman"/>
                <a:sym typeface="Times New Roman"/>
              </a:rPr>
              <a:t>None in M3 (pure likelihood-based)</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US" sz="1700">
                <a:solidFill>
                  <a:schemeClr val="dk1"/>
                </a:solidFill>
                <a:latin typeface="Times New Roman"/>
                <a:ea typeface="Times New Roman"/>
                <a:cs typeface="Times New Roman"/>
                <a:sym typeface="Times New Roman"/>
              </a:rPr>
              <a:t>MODEL DEFINITION</a:t>
            </a:r>
            <a:endParaRPr b="1"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negll() → computes negative log-likelihood (GPD)</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yᵢ ~ GPD(μ, σᵢ, ξ)</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en-US" sz="1700">
                <a:solidFill>
                  <a:schemeClr val="dk1"/>
                </a:solidFill>
                <a:latin typeface="Times New Roman"/>
                <a:ea typeface="Times New Roman"/>
                <a:cs typeface="Times New Roman"/>
                <a:sym typeface="Times New Roman"/>
              </a:rPr>
              <a:t>σᵢ = exp(Xᵢᵀ β)</a:t>
            </a:r>
            <a:endParaRPr sz="1700">
              <a:solidFill>
                <a:schemeClr val="dk1"/>
              </a:solidFill>
              <a:latin typeface="Times New Roman"/>
              <a:ea typeface="Times New Roman"/>
              <a:cs typeface="Times New Roman"/>
              <a:sym typeface="Times New Roman"/>
            </a:endParaRPr>
          </a:p>
        </p:txBody>
      </p:sp>
      <p:sp>
        <p:nvSpPr>
          <p:cNvPr id="180" name="Google Shape;180;p25"/>
          <p:cNvSpPr txBox="1"/>
          <p:nvPr>
            <p:ph idx="1" type="body"/>
          </p:nvPr>
        </p:nvSpPr>
        <p:spPr>
          <a:xfrm>
            <a:off x="6264550" y="1954038"/>
            <a:ext cx="5355900" cy="1923900"/>
          </a:xfrm>
          <a:prstGeom prst="rect">
            <a:avLst/>
          </a:prstGeom>
        </p:spPr>
        <p:txBody>
          <a:bodyPr anchorCtr="0" anchor="t" bIns="45700" lIns="91425" spcFirstLastPara="1" rIns="91425" wrap="square" tIns="45700">
            <a:spAutoFit/>
          </a:bodyPr>
          <a:lstStyle/>
          <a:p>
            <a:pPr indent="0" lvl="0" marL="0" rtl="0" algn="l">
              <a:lnSpc>
                <a:spcPct val="100000"/>
              </a:lnSpc>
              <a:spcBef>
                <a:spcPts val="0"/>
              </a:spcBef>
              <a:spcAft>
                <a:spcPts val="0"/>
              </a:spcAft>
              <a:buClr>
                <a:schemeClr val="dk1"/>
              </a:buClr>
              <a:buSzPts val="1100"/>
              <a:buFont typeface="Arial"/>
              <a:buNone/>
            </a:pPr>
            <a:r>
              <a:rPr b="1" lang="en-US" sz="1700">
                <a:solidFill>
                  <a:schemeClr val="dk1"/>
                </a:solidFill>
                <a:latin typeface="Times New Roman"/>
                <a:ea typeface="Times New Roman"/>
                <a:cs typeface="Times New Roman"/>
                <a:sym typeface="Times New Roman"/>
              </a:rPr>
              <a:t>PARAMETER ESTIMATION</a:t>
            </a:r>
            <a:endParaRPr b="1"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en-US" sz="1700">
                <a:solidFill>
                  <a:schemeClr val="dk1"/>
                </a:solidFill>
                <a:latin typeface="Times New Roman"/>
                <a:ea typeface="Times New Roman"/>
                <a:cs typeface="Times New Roman"/>
                <a:sym typeface="Times New Roman"/>
              </a:rPr>
              <a:t>fit_mle() → estimates (β, ξ) via likelihood minimisation</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b="1" lang="en-US" sz="1700">
                <a:solidFill>
                  <a:schemeClr val="dk1"/>
                </a:solidFill>
                <a:latin typeface="Times New Roman"/>
                <a:ea typeface="Times New Roman"/>
                <a:cs typeface="Times New Roman"/>
                <a:sym typeface="Times New Roman"/>
              </a:rPr>
              <a:t>INPUT / OUTPUT</a:t>
            </a:r>
            <a:endParaRPr b="1"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Input: (y, X)</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Output: (β̂, ξ̂)</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t/>
            </a:r>
            <a:endParaRPr sz="1700">
              <a:solidFill>
                <a:schemeClr val="dk1"/>
              </a:solidFill>
              <a:latin typeface="Times New Roman"/>
              <a:ea typeface="Times New Roman"/>
              <a:cs typeface="Times New Roman"/>
              <a:sym typeface="Times New Roman"/>
            </a:endParaRPr>
          </a:p>
        </p:txBody>
      </p:sp>
      <p:sp>
        <p:nvSpPr>
          <p:cNvPr id="181" name="Google Shape;181;p25"/>
          <p:cNvSpPr txBox="1"/>
          <p:nvPr/>
        </p:nvSpPr>
        <p:spPr>
          <a:xfrm>
            <a:off x="889850" y="1409863"/>
            <a:ext cx="10491600" cy="49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Implement GPD with MLE estimation and establish a deterministic baseline model.</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0" lang="en-US">
                <a:latin typeface="Helvetica Neue"/>
                <a:ea typeface="Helvetica Neue"/>
                <a:cs typeface="Helvetica Neue"/>
                <a:sym typeface="Helvetica Neue"/>
              </a:rPr>
              <a:t>|  </a:t>
            </a:r>
            <a:fld id="{00000000-1234-1234-1234-123412341234}" type="slidenum">
              <a:rPr b="0" lang="en-US">
                <a:latin typeface="Helvetica Neue"/>
                <a:ea typeface="Helvetica Neue"/>
                <a:cs typeface="Helvetica Neue"/>
                <a:sym typeface="Helvetica Neue"/>
              </a:rPr>
              <a:t>‹#›</a:t>
            </a:fld>
            <a:endParaRPr b="0">
              <a:latin typeface="Helvetica Neue"/>
              <a:ea typeface="Helvetica Neue"/>
              <a:cs typeface="Helvetica Neue"/>
              <a:sym typeface="Helvetica Neue"/>
            </a:endParaRPr>
          </a:p>
        </p:txBody>
      </p:sp>
      <p:sp>
        <p:nvSpPr>
          <p:cNvPr id="187" name="Google Shape;187;p26"/>
          <p:cNvSpPr txBox="1"/>
          <p:nvPr/>
        </p:nvSpPr>
        <p:spPr>
          <a:xfrm>
            <a:off x="0" y="398875"/>
            <a:ext cx="121920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000">
                <a:solidFill>
                  <a:schemeClr val="dk2"/>
                </a:solidFill>
                <a:latin typeface="Times New Roman"/>
                <a:ea typeface="Times New Roman"/>
                <a:cs typeface="Times New Roman"/>
                <a:sym typeface="Times New Roman"/>
              </a:rPr>
              <a:t>Coding [</a:t>
            </a:r>
            <a:r>
              <a:rPr b="1" lang="en-US" sz="4000">
                <a:solidFill>
                  <a:schemeClr val="dk2"/>
                </a:solidFill>
                <a:latin typeface="Times New Roman"/>
                <a:ea typeface="Times New Roman"/>
                <a:cs typeface="Times New Roman"/>
                <a:sym typeface="Times New Roman"/>
              </a:rPr>
              <a:t>Randomised</a:t>
            </a:r>
            <a:r>
              <a:rPr b="1" lang="en-US" sz="4000">
                <a:solidFill>
                  <a:schemeClr val="dk2"/>
                </a:solidFill>
                <a:latin typeface="Times New Roman"/>
                <a:ea typeface="Times New Roman"/>
                <a:cs typeface="Times New Roman"/>
                <a:sym typeface="Times New Roman"/>
              </a:rPr>
              <a:t>]</a:t>
            </a:r>
            <a:endParaRPr b="1" sz="4000">
              <a:solidFill>
                <a:schemeClr val="dk2"/>
              </a:solidFill>
              <a:latin typeface="Times New Roman"/>
              <a:ea typeface="Times New Roman"/>
              <a:cs typeface="Times New Roman"/>
              <a:sym typeface="Times New Roman"/>
            </a:endParaRPr>
          </a:p>
        </p:txBody>
      </p:sp>
      <p:sp>
        <p:nvSpPr>
          <p:cNvPr id="188" name="Google Shape;188;p26"/>
          <p:cNvSpPr txBox="1"/>
          <p:nvPr/>
        </p:nvSpPr>
        <p:spPr>
          <a:xfrm>
            <a:off x="955575" y="1809875"/>
            <a:ext cx="5641500" cy="386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dk1"/>
                </a:solidFill>
                <a:latin typeface="Times New Roman"/>
                <a:ea typeface="Times New Roman"/>
                <a:cs typeface="Times New Roman"/>
                <a:sym typeface="Times New Roman"/>
              </a:rPr>
              <a:t>SETUP</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garman_klass_vol() → compute advanced volatility feature</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Design Matrix: X ∈ </a:t>
            </a:r>
            <a:r>
              <a:rPr lang="en-US" sz="1700">
                <a:solidFill>
                  <a:schemeClr val="dk1"/>
                </a:solidFill>
                <a:latin typeface="Times New Roman"/>
                <a:ea typeface="Times New Roman"/>
                <a:cs typeface="Times New Roman"/>
                <a:sym typeface="Times New Roman"/>
              </a:rPr>
              <a:t>ℝ^(n×7)</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700">
                <a:solidFill>
                  <a:schemeClr val="dk1"/>
                </a:solidFill>
                <a:latin typeface="Times New Roman"/>
                <a:ea typeface="Times New Roman"/>
                <a:cs typeface="Times New Roman"/>
                <a:sym typeface="Times New Roman"/>
              </a:rPr>
              <a:t>PRIORS IMPLEMENTED</a:t>
            </a:r>
            <a:endParaRPr b="1"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700">
                <a:solidFill>
                  <a:schemeClr val="dk1"/>
                </a:solidFill>
                <a:latin typeface="Times New Roman"/>
                <a:ea typeface="Times New Roman"/>
                <a:cs typeface="Times New Roman"/>
                <a:sym typeface="Times New Roman"/>
              </a:rPr>
              <a:t>CAUCHY:</a:t>
            </a: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nlp_cauchy() → heavy-tailed prior (robust estimation)</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700">
                <a:solidFill>
                  <a:schemeClr val="dk1"/>
                </a:solidFill>
                <a:latin typeface="Times New Roman"/>
                <a:ea typeface="Times New Roman"/>
                <a:cs typeface="Times New Roman"/>
                <a:sym typeface="Times New Roman"/>
              </a:rPr>
              <a:t>LASSO:</a:t>
            </a:r>
            <a:endParaRPr b="1"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nlp_lasso() → L1 penalty (sparsity promotion)</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700">
                <a:solidFill>
                  <a:schemeClr val="dk1"/>
                </a:solidFill>
                <a:latin typeface="Times New Roman"/>
                <a:ea typeface="Times New Roman"/>
                <a:cs typeface="Times New Roman"/>
                <a:sym typeface="Times New Roman"/>
              </a:rPr>
              <a:t>RIDGE: </a:t>
            </a:r>
            <a:endParaRPr b="1"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nlp_ridge() → L2 penalty (uniform shrinkage)</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700">
                <a:solidFill>
                  <a:schemeClr val="dk1"/>
                </a:solidFill>
                <a:latin typeface="Times New Roman"/>
                <a:ea typeface="Times New Roman"/>
                <a:cs typeface="Times New Roman"/>
                <a:sym typeface="Times New Roman"/>
              </a:rPr>
              <a:t>g-PRIOR:  </a:t>
            </a:r>
            <a:endParaRPr b="1"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nlp_gprior() → data-driven covariance structure</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sp>
        <p:nvSpPr>
          <p:cNvPr id="189" name="Google Shape;189;p26"/>
          <p:cNvSpPr txBox="1"/>
          <p:nvPr/>
        </p:nvSpPr>
        <p:spPr>
          <a:xfrm>
            <a:off x="6378175" y="1809875"/>
            <a:ext cx="38871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Times New Roman"/>
                <a:ea typeface="Times New Roman"/>
                <a:cs typeface="Times New Roman"/>
                <a:sym typeface="Times New Roman"/>
              </a:rPr>
              <a:t>PARAMETER ESTIMATION</a:t>
            </a:r>
            <a:endParaRPr b="1"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fit_cauchy()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fit_lasso()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fit_ridge()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fit_gprior()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700">
                <a:solidFill>
                  <a:schemeClr val="dk1"/>
                </a:solidFill>
                <a:latin typeface="Times New Roman"/>
                <a:ea typeface="Times New Roman"/>
                <a:cs typeface="Times New Roman"/>
                <a:sym typeface="Times New Roman"/>
              </a:rPr>
              <a:t>MODEL SELECTION</a:t>
            </a:r>
            <a:endParaRPr b="1"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 cv_*() → selects optimal regularisation strength</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700">
                <a:solidFill>
                  <a:schemeClr val="dk1"/>
                </a:solidFill>
                <a:latin typeface="Times New Roman"/>
                <a:ea typeface="Times New Roman"/>
                <a:cs typeface="Times New Roman"/>
                <a:sym typeface="Times New Roman"/>
              </a:rPr>
              <a:t>OUTPUT</a:t>
            </a:r>
            <a:endParaRPr b="1"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 Multiple estimates: (β̂, ξ̂)</a:t>
            </a:r>
            <a:endParaRPr b="1" sz="1700">
              <a:solidFill>
                <a:schemeClr val="dk1"/>
              </a:solidFill>
              <a:latin typeface="Times New Roman"/>
              <a:ea typeface="Times New Roman"/>
              <a:cs typeface="Times New Roman"/>
              <a:sym typeface="Times New Roman"/>
            </a:endParaRPr>
          </a:p>
        </p:txBody>
      </p:sp>
      <p:sp>
        <p:nvSpPr>
          <p:cNvPr id="190" name="Google Shape;190;p26"/>
          <p:cNvSpPr txBox="1"/>
          <p:nvPr/>
        </p:nvSpPr>
        <p:spPr>
          <a:xfrm>
            <a:off x="955575" y="1316375"/>
            <a:ext cx="10460400" cy="49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Extend M3 with additional features and introduce regularized estimation.</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196" name="Google Shape;196;p27"/>
          <p:cNvPicPr preferRelativeResize="0"/>
          <p:nvPr/>
        </p:nvPicPr>
        <p:blipFill rotWithShape="1">
          <a:blip r:embed="rId3">
            <a:alphaModFix/>
          </a:blip>
          <a:srcRect b="0" l="980" r="0" t="0"/>
          <a:stretch/>
        </p:blipFill>
        <p:spPr>
          <a:xfrm>
            <a:off x="687125" y="1137775"/>
            <a:ext cx="10666650" cy="4931675"/>
          </a:xfrm>
          <a:prstGeom prst="rect">
            <a:avLst/>
          </a:prstGeom>
          <a:noFill/>
          <a:ln>
            <a:noFill/>
          </a:ln>
        </p:spPr>
      </p:pic>
      <p:sp>
        <p:nvSpPr>
          <p:cNvPr id="197" name="Google Shape;197;p27"/>
          <p:cNvSpPr txBox="1"/>
          <p:nvPr/>
        </p:nvSpPr>
        <p:spPr>
          <a:xfrm>
            <a:off x="0" y="398875"/>
            <a:ext cx="121920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000">
                <a:solidFill>
                  <a:schemeClr val="dk2"/>
                </a:solidFill>
                <a:latin typeface="Times New Roman"/>
                <a:ea typeface="Times New Roman"/>
                <a:cs typeface="Times New Roman"/>
                <a:sym typeface="Times New Roman"/>
              </a:rPr>
              <a:t>Stimulation Pipeline [Deterministic]</a:t>
            </a:r>
            <a:endParaRPr b="1" sz="4000">
              <a:solidFill>
                <a:schemeClr val="dk2"/>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idx="12" type="sldNum"/>
          </p:nvPr>
        </p:nvSpPr>
        <p:spPr>
          <a:xfrm>
            <a:off x="10802678" y="6284675"/>
            <a:ext cx="551100" cy="377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sp>
        <p:nvSpPr>
          <p:cNvPr id="203" name="Google Shape;203;p28"/>
          <p:cNvSpPr txBox="1"/>
          <p:nvPr/>
        </p:nvSpPr>
        <p:spPr>
          <a:xfrm>
            <a:off x="0" y="398875"/>
            <a:ext cx="121920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000">
                <a:solidFill>
                  <a:schemeClr val="dk2"/>
                </a:solidFill>
                <a:latin typeface="Times New Roman"/>
                <a:ea typeface="Times New Roman"/>
                <a:cs typeface="Times New Roman"/>
                <a:sym typeface="Times New Roman"/>
              </a:rPr>
              <a:t>Stimulation Pipeline [Randomised]</a:t>
            </a:r>
            <a:endParaRPr b="1" sz="4000">
              <a:solidFill>
                <a:schemeClr val="dk2"/>
              </a:solidFill>
              <a:latin typeface="Times New Roman"/>
              <a:ea typeface="Times New Roman"/>
              <a:cs typeface="Times New Roman"/>
              <a:sym typeface="Times New Roman"/>
            </a:endParaRPr>
          </a:p>
        </p:txBody>
      </p:sp>
      <p:pic>
        <p:nvPicPr>
          <p:cNvPr id="204" name="Google Shape;204;p28"/>
          <p:cNvPicPr preferRelativeResize="0"/>
          <p:nvPr/>
        </p:nvPicPr>
        <p:blipFill rotWithShape="1">
          <a:blip r:embed="rId3">
            <a:alphaModFix/>
          </a:blip>
          <a:srcRect b="-3160" l="990" r="0" t="3160"/>
          <a:stretch/>
        </p:blipFill>
        <p:spPr>
          <a:xfrm>
            <a:off x="808738" y="1283850"/>
            <a:ext cx="10574524" cy="5000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9" name="Shape 209"/>
        <p:cNvGrpSpPr/>
        <p:nvPr/>
      </p:nvGrpSpPr>
      <p:grpSpPr>
        <a:xfrm>
          <a:off x="0" y="0"/>
          <a:ext cx="0" cy="0"/>
          <a:chOff x="0" y="0"/>
          <a:chExt cx="0" cy="0"/>
        </a:xfrm>
      </p:grpSpPr>
      <p:sp>
        <p:nvSpPr>
          <p:cNvPr id="210" name="Google Shape;210;p29"/>
          <p:cNvSpPr txBox="1"/>
          <p:nvPr>
            <p:ph type="title"/>
          </p:nvPr>
        </p:nvSpPr>
        <p:spPr>
          <a:xfrm>
            <a:off x="-50" y="147975"/>
            <a:ext cx="12192000" cy="7632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sz="4000">
                <a:latin typeface="Times New Roman"/>
                <a:ea typeface="Times New Roman"/>
                <a:cs typeface="Times New Roman"/>
                <a:sym typeface="Times New Roman"/>
              </a:rPr>
              <a:t>Results </a:t>
            </a:r>
            <a:endParaRPr sz="4000">
              <a:latin typeface="Times New Roman"/>
              <a:ea typeface="Times New Roman"/>
              <a:cs typeface="Times New Roman"/>
              <a:sym typeface="Times New Roman"/>
            </a:endParaRPr>
          </a:p>
        </p:txBody>
      </p:sp>
      <p:sp>
        <p:nvSpPr>
          <p:cNvPr id="211" name="Google Shape;211;p29"/>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212" name="Google Shape;212;p29"/>
          <p:cNvPicPr preferRelativeResize="0"/>
          <p:nvPr/>
        </p:nvPicPr>
        <p:blipFill>
          <a:blip r:embed="rId3">
            <a:alphaModFix/>
          </a:blip>
          <a:stretch>
            <a:fillRect/>
          </a:stretch>
        </p:blipFill>
        <p:spPr>
          <a:xfrm>
            <a:off x="5209337" y="984725"/>
            <a:ext cx="6450427" cy="2160626"/>
          </a:xfrm>
          <a:prstGeom prst="rect">
            <a:avLst/>
          </a:prstGeom>
          <a:noFill/>
          <a:ln>
            <a:noFill/>
          </a:ln>
        </p:spPr>
      </p:pic>
      <p:pic>
        <p:nvPicPr>
          <p:cNvPr id="213" name="Google Shape;213;p29"/>
          <p:cNvPicPr preferRelativeResize="0"/>
          <p:nvPr/>
        </p:nvPicPr>
        <p:blipFill>
          <a:blip r:embed="rId4">
            <a:alphaModFix/>
          </a:blip>
          <a:stretch>
            <a:fillRect/>
          </a:stretch>
        </p:blipFill>
        <p:spPr>
          <a:xfrm>
            <a:off x="5212900" y="3429000"/>
            <a:ext cx="6450452" cy="2003171"/>
          </a:xfrm>
          <a:prstGeom prst="rect">
            <a:avLst/>
          </a:prstGeom>
          <a:noFill/>
          <a:ln>
            <a:noFill/>
          </a:ln>
        </p:spPr>
      </p:pic>
      <p:sp>
        <p:nvSpPr>
          <p:cNvPr id="214" name="Google Shape;214;p29"/>
          <p:cNvSpPr txBox="1"/>
          <p:nvPr/>
        </p:nvSpPr>
        <p:spPr>
          <a:xfrm>
            <a:off x="846575" y="911175"/>
            <a:ext cx="42336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000">
                <a:solidFill>
                  <a:schemeClr val="dk1"/>
                </a:solidFill>
                <a:latin typeface="Times New Roman"/>
                <a:ea typeface="Times New Roman"/>
                <a:cs typeface="Times New Roman"/>
                <a:sym typeface="Times New Roman"/>
              </a:rPr>
              <a:t>Comparison</a:t>
            </a:r>
            <a:r>
              <a:rPr b="1" lang="en-US" sz="2000">
                <a:solidFill>
                  <a:schemeClr val="dk1"/>
                </a:solidFill>
                <a:latin typeface="Times New Roman"/>
                <a:ea typeface="Times New Roman"/>
                <a:cs typeface="Times New Roman"/>
                <a:sym typeface="Times New Roman"/>
              </a:rPr>
              <a:t> between Randomised And Deterministic algorithms</a:t>
            </a:r>
            <a:endParaRPr sz="2000">
              <a:solidFill>
                <a:schemeClr val="dk1"/>
              </a:solidFill>
              <a:latin typeface="Times New Roman"/>
              <a:ea typeface="Times New Roman"/>
              <a:cs typeface="Times New Roman"/>
              <a:sym typeface="Times New Roman"/>
            </a:endParaRPr>
          </a:p>
        </p:txBody>
      </p:sp>
      <p:sp>
        <p:nvSpPr>
          <p:cNvPr id="215" name="Google Shape;215;p29"/>
          <p:cNvSpPr txBox="1"/>
          <p:nvPr/>
        </p:nvSpPr>
        <p:spPr>
          <a:xfrm>
            <a:off x="359150" y="1926975"/>
            <a:ext cx="4233600" cy="22518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M4 captures volatility–crash relationships realistically, while M3 remains mostly flat.</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M4 shows better prediction accuracy and tail-risk estimation than M3.</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Overall, M4 outperforms M3 and aligns better with the base paper.</a:t>
            </a:r>
            <a:endParaRPr b="1" sz="17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0" name="Shape 220"/>
        <p:cNvGrpSpPr/>
        <p:nvPr/>
      </p:nvGrpSpPr>
      <p:grpSpPr>
        <a:xfrm>
          <a:off x="0" y="0"/>
          <a:ext cx="0" cy="0"/>
          <a:chOff x="0" y="0"/>
          <a:chExt cx="0" cy="0"/>
        </a:xfrm>
      </p:grpSpPr>
      <p:sp>
        <p:nvSpPr>
          <p:cNvPr id="221" name="Google Shape;221;p30"/>
          <p:cNvSpPr txBox="1"/>
          <p:nvPr>
            <p:ph type="title"/>
          </p:nvPr>
        </p:nvSpPr>
        <p:spPr>
          <a:xfrm>
            <a:off x="-50" y="147975"/>
            <a:ext cx="12192000" cy="7632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sz="4000">
                <a:latin typeface="Times New Roman"/>
                <a:ea typeface="Times New Roman"/>
                <a:cs typeface="Times New Roman"/>
                <a:sym typeface="Times New Roman"/>
              </a:rPr>
              <a:t>Results</a:t>
            </a:r>
            <a:endParaRPr sz="4000">
              <a:latin typeface="Times New Roman"/>
              <a:ea typeface="Times New Roman"/>
              <a:cs typeface="Times New Roman"/>
              <a:sym typeface="Times New Roman"/>
            </a:endParaRPr>
          </a:p>
        </p:txBody>
      </p:sp>
      <p:sp>
        <p:nvSpPr>
          <p:cNvPr id="222" name="Google Shape;222;p30"/>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223" name="Google Shape;223;p30"/>
          <p:cNvPicPr preferRelativeResize="0"/>
          <p:nvPr/>
        </p:nvPicPr>
        <p:blipFill rotWithShape="1">
          <a:blip r:embed="rId3">
            <a:alphaModFix/>
          </a:blip>
          <a:srcRect b="0" l="-5241" r="0" t="0"/>
          <a:stretch/>
        </p:blipFill>
        <p:spPr>
          <a:xfrm>
            <a:off x="5545675" y="1082137"/>
            <a:ext cx="6112576" cy="4230001"/>
          </a:xfrm>
          <a:prstGeom prst="rect">
            <a:avLst/>
          </a:prstGeom>
          <a:noFill/>
          <a:ln>
            <a:noFill/>
          </a:ln>
        </p:spPr>
      </p:pic>
      <p:sp>
        <p:nvSpPr>
          <p:cNvPr id="224" name="Google Shape;224;p30"/>
          <p:cNvSpPr txBox="1"/>
          <p:nvPr/>
        </p:nvSpPr>
        <p:spPr>
          <a:xfrm>
            <a:off x="356275" y="2108625"/>
            <a:ext cx="5189400" cy="25527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The Cauchy prior improves RMSE as well as AIC/BIC compared to the MLE baseline</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The g-prior achieves the lowest RMSE, giving the best predictive performance, but at the cost of higher AIC/BIC (more complexity)</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Cauchy offers best balance between accuracy and model fit, while g-prior focuses purely on prediction</a:t>
            </a:r>
            <a:endParaRPr sz="1700">
              <a:solidFill>
                <a:schemeClr val="dk1"/>
              </a:solidFill>
              <a:latin typeface="Times New Roman"/>
              <a:ea typeface="Times New Roman"/>
              <a:cs typeface="Times New Roman"/>
              <a:sym typeface="Times New Roman"/>
            </a:endParaRPr>
          </a:p>
        </p:txBody>
      </p:sp>
      <p:sp>
        <p:nvSpPr>
          <p:cNvPr id="225" name="Google Shape;225;p30"/>
          <p:cNvSpPr txBox="1"/>
          <p:nvPr/>
        </p:nvSpPr>
        <p:spPr>
          <a:xfrm>
            <a:off x="831850" y="1000425"/>
            <a:ext cx="5027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dk1"/>
                </a:solidFill>
                <a:latin typeface="Times New Roman"/>
                <a:ea typeface="Times New Roman"/>
                <a:cs typeface="Times New Roman"/>
                <a:sym typeface="Times New Roman"/>
              </a:rPr>
              <a:t>Model Performance Comparison Across Deterministic and Bayesian Frameworks</a:t>
            </a:r>
            <a:endParaRPr b="1" sz="20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0" name="Shape 230"/>
        <p:cNvGrpSpPr/>
        <p:nvPr/>
      </p:nvGrpSpPr>
      <p:grpSpPr>
        <a:xfrm>
          <a:off x="0" y="0"/>
          <a:ext cx="0" cy="0"/>
          <a:chOff x="0" y="0"/>
          <a:chExt cx="0" cy="0"/>
        </a:xfrm>
      </p:grpSpPr>
      <p:sp>
        <p:nvSpPr>
          <p:cNvPr id="231" name="Google Shape;231;p31"/>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232" name="Google Shape;232;p31"/>
          <p:cNvPicPr preferRelativeResize="0"/>
          <p:nvPr/>
        </p:nvPicPr>
        <p:blipFill rotWithShape="1">
          <a:blip r:embed="rId3">
            <a:alphaModFix/>
          </a:blip>
          <a:srcRect b="69569" l="0" r="0" t="0"/>
          <a:stretch/>
        </p:blipFill>
        <p:spPr>
          <a:xfrm>
            <a:off x="5041900" y="1094348"/>
            <a:ext cx="6401577" cy="1928877"/>
          </a:xfrm>
          <a:prstGeom prst="rect">
            <a:avLst/>
          </a:prstGeom>
          <a:noFill/>
          <a:ln>
            <a:noFill/>
          </a:ln>
        </p:spPr>
      </p:pic>
      <p:pic>
        <p:nvPicPr>
          <p:cNvPr id="233" name="Google Shape;233;p31"/>
          <p:cNvPicPr preferRelativeResize="0"/>
          <p:nvPr/>
        </p:nvPicPr>
        <p:blipFill rotWithShape="1">
          <a:blip r:embed="rId3">
            <a:alphaModFix/>
          </a:blip>
          <a:srcRect b="35357" l="0" r="0" t="30419"/>
          <a:stretch/>
        </p:blipFill>
        <p:spPr>
          <a:xfrm>
            <a:off x="5027650" y="3279667"/>
            <a:ext cx="6401577" cy="2081124"/>
          </a:xfrm>
          <a:prstGeom prst="rect">
            <a:avLst/>
          </a:prstGeom>
          <a:noFill/>
          <a:ln>
            <a:noFill/>
          </a:ln>
        </p:spPr>
      </p:pic>
      <p:sp>
        <p:nvSpPr>
          <p:cNvPr id="234" name="Google Shape;234;p31"/>
          <p:cNvSpPr txBox="1"/>
          <p:nvPr/>
        </p:nvSpPr>
        <p:spPr>
          <a:xfrm>
            <a:off x="209750" y="2019375"/>
            <a:ext cx="4832100" cy="19509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Font typeface="Helvetica Neue"/>
              <a:buChar char="●"/>
            </a:pPr>
            <a:r>
              <a:rPr lang="en-US" sz="1700">
                <a:solidFill>
                  <a:schemeClr val="dk1"/>
                </a:solidFill>
                <a:latin typeface="Times New Roman"/>
                <a:ea typeface="Times New Roman"/>
                <a:cs typeface="Times New Roman"/>
                <a:sym typeface="Times New Roman"/>
              </a:rPr>
              <a:t>The </a:t>
            </a:r>
            <a:r>
              <a:rPr b="1" lang="en-US" sz="1700">
                <a:solidFill>
                  <a:schemeClr val="dk1"/>
                </a:solidFill>
                <a:latin typeface="Times New Roman"/>
                <a:ea typeface="Times New Roman"/>
                <a:cs typeface="Times New Roman"/>
                <a:sym typeface="Times New Roman"/>
              </a:rPr>
              <a:t>g-prior</a:t>
            </a:r>
            <a:r>
              <a:rPr lang="en-US" sz="1700">
                <a:solidFill>
                  <a:schemeClr val="dk1"/>
                </a:solidFill>
                <a:latin typeface="Times New Roman"/>
                <a:ea typeface="Times New Roman"/>
                <a:cs typeface="Times New Roman"/>
                <a:sym typeface="Times New Roman"/>
              </a:rPr>
              <a:t> model achieves the </a:t>
            </a:r>
            <a:r>
              <a:rPr b="1" lang="en-US" sz="1700">
                <a:solidFill>
                  <a:schemeClr val="dk1"/>
                </a:solidFill>
                <a:latin typeface="Times New Roman"/>
                <a:ea typeface="Times New Roman"/>
                <a:cs typeface="Times New Roman"/>
                <a:sym typeface="Times New Roman"/>
              </a:rPr>
              <a:t>lowest RMSE</a:t>
            </a:r>
            <a:r>
              <a:rPr lang="en-US" sz="1700">
                <a:solidFill>
                  <a:schemeClr val="dk1"/>
                </a:solidFill>
                <a:latin typeface="Times New Roman"/>
                <a:ea typeface="Times New Roman"/>
                <a:cs typeface="Times New Roman"/>
                <a:sym typeface="Times New Roman"/>
              </a:rPr>
              <a:t>, making it the best for prediction accuracy, while </a:t>
            </a:r>
            <a:r>
              <a:rPr b="1" lang="en-US" sz="1700">
                <a:solidFill>
                  <a:schemeClr val="dk1"/>
                </a:solidFill>
                <a:latin typeface="Times New Roman"/>
                <a:ea typeface="Times New Roman"/>
                <a:cs typeface="Times New Roman"/>
                <a:sym typeface="Times New Roman"/>
              </a:rPr>
              <a:t>Cauchy</a:t>
            </a:r>
            <a:r>
              <a:rPr lang="en-US" sz="1700">
                <a:solidFill>
                  <a:schemeClr val="dk1"/>
                </a:solidFill>
                <a:latin typeface="Times New Roman"/>
                <a:ea typeface="Times New Roman"/>
                <a:cs typeface="Times New Roman"/>
                <a:sym typeface="Times New Roman"/>
              </a:rPr>
              <a:t> provides the best balance with l</a:t>
            </a:r>
            <a:r>
              <a:rPr b="1" lang="en-US" sz="1700">
                <a:solidFill>
                  <a:schemeClr val="dk1"/>
                </a:solidFill>
                <a:latin typeface="Times New Roman"/>
                <a:ea typeface="Times New Roman"/>
                <a:cs typeface="Times New Roman"/>
                <a:sym typeface="Times New Roman"/>
              </a:rPr>
              <a:t>owest AIC/BIC</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Helvetica Neue"/>
              <a:buChar char="●"/>
            </a:pPr>
            <a:r>
              <a:rPr b="1" lang="en-US" sz="1700">
                <a:solidFill>
                  <a:schemeClr val="dk1"/>
                </a:solidFill>
                <a:latin typeface="Times New Roman"/>
                <a:ea typeface="Times New Roman"/>
                <a:cs typeface="Times New Roman"/>
                <a:sym typeface="Times New Roman"/>
              </a:rPr>
              <a:t>g-prior prioritizes accuracy</a:t>
            </a:r>
            <a:r>
              <a:rPr lang="en-US" sz="1700">
                <a:solidFill>
                  <a:schemeClr val="dk1"/>
                </a:solidFill>
                <a:latin typeface="Times New Roman"/>
                <a:ea typeface="Times New Roman"/>
                <a:cs typeface="Times New Roman"/>
                <a:sym typeface="Times New Roman"/>
              </a:rPr>
              <a:t>, whereas </a:t>
            </a:r>
            <a:r>
              <a:rPr b="1" lang="en-US" sz="1700">
                <a:solidFill>
                  <a:schemeClr val="dk1"/>
                </a:solidFill>
                <a:latin typeface="Times New Roman"/>
                <a:ea typeface="Times New Roman"/>
                <a:cs typeface="Times New Roman"/>
                <a:sym typeface="Times New Roman"/>
              </a:rPr>
              <a:t>Cauchy maintains model simplicity</a:t>
            </a:r>
            <a:r>
              <a:rPr lang="en-US" sz="1700">
                <a:solidFill>
                  <a:schemeClr val="dk1"/>
                </a:solidFill>
                <a:latin typeface="Times New Roman"/>
                <a:ea typeface="Times New Roman"/>
                <a:cs typeface="Times New Roman"/>
                <a:sym typeface="Times New Roman"/>
              </a:rPr>
              <a:t> and fit</a:t>
            </a:r>
            <a:endParaRPr sz="1700">
              <a:solidFill>
                <a:schemeClr val="dk1"/>
              </a:solidFill>
              <a:latin typeface="Times New Roman"/>
              <a:ea typeface="Times New Roman"/>
              <a:cs typeface="Times New Roman"/>
              <a:sym typeface="Times New Roman"/>
            </a:endParaRPr>
          </a:p>
        </p:txBody>
      </p:sp>
      <p:sp>
        <p:nvSpPr>
          <p:cNvPr id="235" name="Google Shape;235;p31"/>
          <p:cNvSpPr txBox="1"/>
          <p:nvPr/>
        </p:nvSpPr>
        <p:spPr>
          <a:xfrm>
            <a:off x="649750" y="911175"/>
            <a:ext cx="4377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dk1"/>
                </a:solidFill>
                <a:latin typeface="Times New Roman"/>
                <a:ea typeface="Times New Roman"/>
                <a:cs typeface="Times New Roman"/>
                <a:sym typeface="Times New Roman"/>
              </a:rPr>
              <a:t>Comparative Analysis of Deterministic and Bayesian Models for Crash Risk Prediction</a:t>
            </a:r>
            <a:endParaRPr b="1" sz="2000">
              <a:solidFill>
                <a:schemeClr val="dk1"/>
              </a:solidFill>
              <a:latin typeface="Times New Roman"/>
              <a:ea typeface="Times New Roman"/>
              <a:cs typeface="Times New Roman"/>
              <a:sym typeface="Times New Roman"/>
            </a:endParaRPr>
          </a:p>
        </p:txBody>
      </p:sp>
      <p:sp>
        <p:nvSpPr>
          <p:cNvPr id="236" name="Google Shape;236;p31"/>
          <p:cNvSpPr txBox="1"/>
          <p:nvPr>
            <p:ph type="title"/>
          </p:nvPr>
        </p:nvSpPr>
        <p:spPr>
          <a:xfrm>
            <a:off x="-50" y="147975"/>
            <a:ext cx="12192000" cy="7632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sz="4000">
                <a:latin typeface="Times New Roman"/>
                <a:ea typeface="Times New Roman"/>
                <a:cs typeface="Times New Roman"/>
                <a:sym typeface="Times New Roman"/>
              </a:rPr>
              <a:t>Results</a:t>
            </a:r>
            <a:endParaRPr sz="40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1" name="Shape 241"/>
        <p:cNvGrpSpPr/>
        <p:nvPr/>
      </p:nvGrpSpPr>
      <p:grpSpPr>
        <a:xfrm>
          <a:off x="0" y="0"/>
          <a:ext cx="0" cy="0"/>
          <a:chOff x="0" y="0"/>
          <a:chExt cx="0" cy="0"/>
        </a:xfrm>
      </p:grpSpPr>
      <p:sp>
        <p:nvSpPr>
          <p:cNvPr id="242" name="Google Shape;242;p32"/>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pic>
        <p:nvPicPr>
          <p:cNvPr id="243" name="Google Shape;243;p32"/>
          <p:cNvPicPr preferRelativeResize="0"/>
          <p:nvPr/>
        </p:nvPicPr>
        <p:blipFill rotWithShape="1">
          <a:blip r:embed="rId3">
            <a:alphaModFix/>
          </a:blip>
          <a:srcRect b="0" l="0" r="0" t="66551"/>
          <a:stretch/>
        </p:blipFill>
        <p:spPr>
          <a:xfrm>
            <a:off x="534588" y="1229525"/>
            <a:ext cx="11122724" cy="3279049"/>
          </a:xfrm>
          <a:prstGeom prst="rect">
            <a:avLst/>
          </a:prstGeom>
          <a:noFill/>
          <a:ln>
            <a:noFill/>
          </a:ln>
        </p:spPr>
      </p:pic>
      <p:sp>
        <p:nvSpPr>
          <p:cNvPr id="244" name="Google Shape;244;p32"/>
          <p:cNvSpPr txBox="1"/>
          <p:nvPr>
            <p:ph type="title"/>
          </p:nvPr>
        </p:nvSpPr>
        <p:spPr>
          <a:xfrm>
            <a:off x="-50" y="147975"/>
            <a:ext cx="12192000" cy="7632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sz="4000"/>
              <a:t>Results</a:t>
            </a:r>
            <a:endParaRPr sz="4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9" name="Shape 249"/>
        <p:cNvGrpSpPr/>
        <p:nvPr/>
      </p:nvGrpSpPr>
      <p:grpSpPr>
        <a:xfrm>
          <a:off x="0" y="0"/>
          <a:ext cx="0" cy="0"/>
          <a:chOff x="0" y="0"/>
          <a:chExt cx="0" cy="0"/>
        </a:xfrm>
      </p:grpSpPr>
      <p:sp>
        <p:nvSpPr>
          <p:cNvPr id="250" name="Google Shape;250;p33"/>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sp>
        <p:nvSpPr>
          <p:cNvPr id="251" name="Google Shape;251;p33"/>
          <p:cNvSpPr txBox="1"/>
          <p:nvPr/>
        </p:nvSpPr>
        <p:spPr>
          <a:xfrm>
            <a:off x="0" y="398875"/>
            <a:ext cx="121920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000">
                <a:solidFill>
                  <a:schemeClr val="dk2"/>
                </a:solidFill>
                <a:latin typeface="Times New Roman"/>
                <a:ea typeface="Times New Roman"/>
                <a:cs typeface="Times New Roman"/>
                <a:sym typeface="Times New Roman"/>
              </a:rPr>
              <a:t>Inference - Domain Perspective</a:t>
            </a:r>
            <a:endParaRPr b="1" sz="4000">
              <a:solidFill>
                <a:schemeClr val="dk2"/>
              </a:solidFill>
              <a:latin typeface="Times New Roman"/>
              <a:ea typeface="Times New Roman"/>
              <a:cs typeface="Times New Roman"/>
              <a:sym typeface="Times New Roman"/>
            </a:endParaRPr>
          </a:p>
        </p:txBody>
      </p:sp>
      <p:sp>
        <p:nvSpPr>
          <p:cNvPr id="252" name="Google Shape;252;p33"/>
          <p:cNvSpPr txBox="1"/>
          <p:nvPr/>
        </p:nvSpPr>
        <p:spPr>
          <a:xfrm>
            <a:off x="627325" y="1229925"/>
            <a:ext cx="5541900" cy="28536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P(crash &gt; 5% | loss &gt; 2%) → fixes the main issue</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EVT → tail events only.</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Extreme crashes are more common with heavy tails (ξ ≈ 0.25).</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Demonstrates that:</a:t>
            </a:r>
            <a:endParaRPr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Crashes are not rare</a:t>
            </a:r>
            <a:endParaRPr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Risk is underestimated</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The model r</a:t>
            </a:r>
            <a:r>
              <a:rPr lang="en-US" sz="1700">
                <a:solidFill>
                  <a:schemeClr val="dk1"/>
                </a:solidFill>
                <a:latin typeface="Times New Roman"/>
                <a:ea typeface="Times New Roman"/>
                <a:cs typeface="Times New Roman"/>
                <a:sym typeface="Times New Roman"/>
              </a:rPr>
              <a:t>eplicates real market behavior by connecting crash risk to volatility.</a:t>
            </a:r>
            <a:endParaRPr sz="1700">
              <a:solidFill>
                <a:schemeClr val="dk1"/>
              </a:solidFill>
              <a:latin typeface="Times New Roman"/>
              <a:ea typeface="Times New Roman"/>
              <a:cs typeface="Times New Roman"/>
              <a:sym typeface="Times New Roman"/>
            </a:endParaRPr>
          </a:p>
        </p:txBody>
      </p:sp>
      <p:sp>
        <p:nvSpPr>
          <p:cNvPr id="253" name="Google Shape;253;p33"/>
          <p:cNvSpPr txBox="1"/>
          <p:nvPr/>
        </p:nvSpPr>
        <p:spPr>
          <a:xfrm>
            <a:off x="6386700" y="1137775"/>
            <a:ext cx="5541900" cy="31545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Principal causes of accident risk:</a:t>
            </a:r>
            <a:endParaRPr b="1"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Nifty volatility ↑ → increased likelihood of a crash</a:t>
            </a:r>
            <a:endParaRPr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S&amp;P 500 volatility ↑ → global spillover effect</a:t>
            </a:r>
            <a:endParaRPr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Volatility of gold ↑ → indication of market fear</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From outcomes:</a:t>
            </a:r>
            <a:endParaRPr b="1"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Volatility significantly increases crash risk.</a:t>
            </a:r>
            <a:endParaRPr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High volatility ⇒ crash probability &gt; 50%</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Realistic insight:</a:t>
            </a:r>
            <a:endParaRPr b="1"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Enables better decisions and early risk detection.</a:t>
            </a:r>
            <a:endParaRPr sz="17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8" name="Shape 258"/>
        <p:cNvGrpSpPr/>
        <p:nvPr/>
      </p:nvGrpSpPr>
      <p:grpSpPr>
        <a:xfrm>
          <a:off x="0" y="0"/>
          <a:ext cx="0" cy="0"/>
          <a:chOff x="0" y="0"/>
          <a:chExt cx="0" cy="0"/>
        </a:xfrm>
      </p:grpSpPr>
      <p:sp>
        <p:nvSpPr>
          <p:cNvPr id="259" name="Google Shape;259;p34"/>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sp>
        <p:nvSpPr>
          <p:cNvPr id="260" name="Google Shape;260;p34"/>
          <p:cNvSpPr txBox="1"/>
          <p:nvPr/>
        </p:nvSpPr>
        <p:spPr>
          <a:xfrm>
            <a:off x="0" y="398875"/>
            <a:ext cx="121920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000">
                <a:solidFill>
                  <a:schemeClr val="dk2"/>
                </a:solidFill>
                <a:latin typeface="Times New Roman"/>
                <a:ea typeface="Times New Roman"/>
                <a:cs typeface="Times New Roman"/>
                <a:sym typeface="Times New Roman"/>
              </a:rPr>
              <a:t>Inference - Computer Science Perspective</a:t>
            </a:r>
            <a:endParaRPr b="1" sz="4000">
              <a:solidFill>
                <a:schemeClr val="dk2"/>
              </a:solidFill>
              <a:latin typeface="Times New Roman"/>
              <a:ea typeface="Times New Roman"/>
              <a:cs typeface="Times New Roman"/>
              <a:sym typeface="Times New Roman"/>
            </a:endParaRPr>
          </a:p>
        </p:txBody>
      </p:sp>
      <p:sp>
        <p:nvSpPr>
          <p:cNvPr id="261" name="Google Shape;261;p34"/>
          <p:cNvSpPr txBox="1"/>
          <p:nvPr/>
        </p:nvSpPr>
        <p:spPr>
          <a:xfrm>
            <a:off x="1049425" y="1319225"/>
            <a:ext cx="4665900" cy="31545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Deterministic MLE:</a:t>
            </a:r>
            <a:endParaRPr b="1"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Same result</a:t>
            </a:r>
            <a:endParaRPr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For little data (n=100), it is straightforward but overfits</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Randomized (Bayesian + Simulation):</a:t>
            </a:r>
            <a:endParaRPr b="1"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100 simulations ensure reliable comparison.</a:t>
            </a:r>
            <a:endParaRPr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Performs better in most cases.</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Result:</a:t>
            </a:r>
            <a:endParaRPr b="1"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In every statistic, MLE is not the best.</a:t>
            </a:r>
            <a:endParaRPr sz="1700">
              <a:solidFill>
                <a:schemeClr val="dk1"/>
              </a:solidFill>
              <a:latin typeface="Times New Roman"/>
              <a:ea typeface="Times New Roman"/>
              <a:cs typeface="Times New Roman"/>
              <a:sym typeface="Times New Roman"/>
            </a:endParaRPr>
          </a:p>
        </p:txBody>
      </p:sp>
      <p:sp>
        <p:nvSpPr>
          <p:cNvPr id="262" name="Google Shape;262;p34"/>
          <p:cNvSpPr txBox="1"/>
          <p:nvPr/>
        </p:nvSpPr>
        <p:spPr>
          <a:xfrm>
            <a:off x="6571175" y="1266550"/>
            <a:ext cx="5291400" cy="28536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Performance (based on outcomes):</a:t>
            </a:r>
            <a:endParaRPr b="1"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Lasso → optimal RMSE (prediction) </a:t>
            </a:r>
            <a:endParaRPr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g-prior → optimal AIC/BIC (model fit)</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Trade-off:</a:t>
            </a:r>
            <a:endParaRPr b="1"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Bayesian → slower, more robust</a:t>
            </a:r>
            <a:endParaRPr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MLE → quick, stable, but overfits</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b="1" lang="en-US" sz="1700">
                <a:solidFill>
                  <a:schemeClr val="dk1"/>
                </a:solidFill>
                <a:latin typeface="Times New Roman"/>
                <a:ea typeface="Times New Roman"/>
                <a:cs typeface="Times New Roman"/>
                <a:sym typeface="Times New Roman"/>
              </a:rPr>
              <a:t>Conclusion:</a:t>
            </a:r>
            <a:endParaRPr b="1"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Small data: deterministic &gt; randomized</a:t>
            </a:r>
            <a:endParaRPr sz="1700">
              <a:solidFill>
                <a:schemeClr val="dk1"/>
              </a:solidFill>
              <a:latin typeface="Times New Roman"/>
              <a:ea typeface="Times New Roman"/>
              <a:cs typeface="Times New Roman"/>
              <a:sym typeface="Times New Roman"/>
            </a:endParaRPr>
          </a:p>
          <a:p>
            <a:pPr indent="-336550" lvl="1" marL="9144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Large data: methods perform similarly</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5"/>
          <p:cNvSpPr txBox="1"/>
          <p:nvPr>
            <p:ph type="title"/>
          </p:nvPr>
        </p:nvSpPr>
        <p:spPr>
          <a:xfrm>
            <a:off x="0" y="2752650"/>
            <a:ext cx="12192000" cy="13527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n-US" sz="8000"/>
              <a:t>Thank You</a:t>
            </a:r>
            <a:endParaRPr sz="8000"/>
          </a:p>
        </p:txBody>
      </p:sp>
      <p:sp>
        <p:nvSpPr>
          <p:cNvPr id="269" name="Google Shape;269;p35"/>
          <p:cNvSpPr txBox="1"/>
          <p:nvPr>
            <p:ph idx="12" type="sldNum"/>
          </p:nvPr>
        </p:nvSpPr>
        <p:spPr>
          <a:xfrm>
            <a:off x="10802678" y="6284675"/>
            <a:ext cx="551100" cy="3774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a:t>
            </a:r>
            <a:r>
              <a:rPr b="0" lang="en-US"/>
              <a:t>  </a:t>
            </a:r>
            <a:fld id="{00000000-1234-1234-1234-123412341234}" type="slidenum">
              <a:rPr b="0" lang="en-US"/>
              <a:t>‹#›</a:t>
            </a:fld>
            <a:endParaRPr b="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Ahmedabad University ">
      <a:dk1>
        <a:srgbClr val="000000"/>
      </a:dk1>
      <a:lt1>
        <a:srgbClr val="FFFFFF"/>
      </a:lt1>
      <a:dk2>
        <a:srgbClr val="7D1916"/>
      </a:dk2>
      <a:lt2>
        <a:srgbClr val="F2F1EE"/>
      </a:lt2>
      <a:accent1>
        <a:srgbClr val="894C00"/>
      </a:accent1>
      <a:accent2>
        <a:srgbClr val="7F4700"/>
      </a:accent2>
      <a:accent3>
        <a:srgbClr val="A5A5A5"/>
      </a:accent3>
      <a:accent4>
        <a:srgbClr val="BC933E"/>
      </a:accent4>
      <a:accent5>
        <a:srgbClr val="000000"/>
      </a:accent5>
      <a:accent6>
        <a:srgbClr val="FEFFFF"/>
      </a:accent6>
      <a:hlink>
        <a:srgbClr val="000000"/>
      </a:hlink>
      <a:folHlink>
        <a:srgbClr val="FE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