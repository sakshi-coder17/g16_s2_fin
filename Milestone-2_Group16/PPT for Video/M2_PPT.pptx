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  <p:embeddedFont>
      <p:font typeface="Helvetica Neue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22" Type="http://schemas.openxmlformats.org/officeDocument/2006/relationships/font" Target="fonts/HelveticaNeueLight-regular.fntdata"/><Relationship Id="rId21" Type="http://schemas.openxmlformats.org/officeDocument/2006/relationships/font" Target="fonts/HelveticaNeue-boldItalic.fntdata"/><Relationship Id="rId24" Type="http://schemas.openxmlformats.org/officeDocument/2006/relationships/font" Target="fonts/HelveticaNeueLight-italic.fntdata"/><Relationship Id="rId23" Type="http://schemas.openxmlformats.org/officeDocument/2006/relationships/font" Target="fonts/HelveticaNeueLigh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HelveticaNeue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HelveticaNeue-bold.fntdata"/><Relationship Id="rId1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ccbc22efb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bccbc22efb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ccbc22efb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bccbc22efb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ccbc22efb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bccbc22efb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ccbc22efb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bccbc22efb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ccbc22efb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bccbc22efb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cd492992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cd492992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bcd492992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cd4929920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cd4929920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bcd4929920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cd4929920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cd4929920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bcd4929920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cd4929920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bcd4929920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bcd4929920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cd4929920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cd4929920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bcd4929920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cf28b967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cf28b967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bcf28b967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2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idx="1" type="body"/>
          </p:nvPr>
        </p:nvSpPr>
        <p:spPr>
          <a:xfrm>
            <a:off x="844150" y="4710224"/>
            <a:ext cx="10515601" cy="552037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44848"/>
              </a:buClr>
              <a:buSzPts val="2000"/>
              <a:buFont typeface="Helvetica Neue Light"/>
              <a:buNone/>
              <a:defRPr b="0" i="0" sz="2000">
                <a:solidFill>
                  <a:srgbClr val="44484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42109" l="31991" r="32034" t="42025"/>
          <a:stretch/>
        </p:blipFill>
        <p:spPr>
          <a:xfrm>
            <a:off x="7430948" y="751519"/>
            <a:ext cx="3928803" cy="133323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/>
          <p:nvPr>
            <p:ph idx="2" type="body"/>
          </p:nvPr>
        </p:nvSpPr>
        <p:spPr>
          <a:xfrm>
            <a:off x="844150" y="3784993"/>
            <a:ext cx="10516000" cy="90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Helvetica Neue"/>
              <a:buNone/>
              <a:defRPr b="1" i="0" sz="4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Helvetica Neue"/>
              <a:buNone/>
              <a:defRPr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74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8" name="Google Shape;58;p8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5" name="Google Shape;65;p9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2" name="Google Shape;72;p10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4" name="Google Shape;84;p12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906375" y="3251850"/>
            <a:ext cx="7798200" cy="7461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4848"/>
              </a:buClr>
              <a:buSzPts val="2000"/>
              <a:buFont typeface="Helvetica Neue Light"/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Bayesian Generalized Pareto Modeling of Extreme Stock Market Crashes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>
            <p:ph idx="2" type="body"/>
          </p:nvPr>
        </p:nvSpPr>
        <p:spPr>
          <a:xfrm>
            <a:off x="906375" y="2262075"/>
            <a:ext cx="72414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Helvetica Neue"/>
              <a:buNone/>
            </a:pP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Financial &amp; Risk Analysis</a:t>
            </a:r>
            <a:endParaRPr sz="4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Context and Motivation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Title 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Bayesian Generalized Pareto Modeling of Extreme Stock Market Crashes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Domain 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Finance and Risk Analysis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Real World Context : 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Normal-return models underestimate extreme crashes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Rare events cause major financial damage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Heavy-tailed behavior observed in markets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Why Uncertainty Is Intrinsic :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Crashes are rare and unpredictable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Volatility changes over time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Global spillovers influence domestic markets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Investor behavior is unstable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 b="7605" l="-1650" r="1649" t="-810"/>
          <a:stretch/>
        </p:blipFill>
        <p:spPr>
          <a:xfrm>
            <a:off x="7989675" y="2599249"/>
            <a:ext cx="4010251" cy="347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Objective and Scope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594302" y="1253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Project Objective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: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Estimate probability of extreme NIFTY 50 crashes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Quantify severity of crash losses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Crash Definition: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Crash event: Rt&lt;−2%R_t &lt; -2\%Rt​&lt;−2%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Loss magnitude: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latin typeface="Arial"/>
                <a:ea typeface="Arial"/>
                <a:cs typeface="Arial"/>
                <a:sym typeface="Arial"/>
              </a:rPr>
              <a:t> Y=∣Rt∣Y = |R_t|Y=∣Rt​∣ when crash occurs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Project Scope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: 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Model extreme tail risk only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Bayesian GPD regression framework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Volatility-driven crash severity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Out of scope : 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Daily price prediction 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Normal market modeling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System Overview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t/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401002" y="9585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End to End Pipeline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Market Data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Volatility Computation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Threshold Exceedance Detection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Bayesian GPD Regression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Crash Risk Estimates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Major Components :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Volatility module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Exceedance filtering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Bayesian inference (MAP)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PDF/CDF tail visualization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Data Flow : 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Returns → Extreme Losses → Covariates → GPD Model → Risk Output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594303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Sources of Uncertainty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594302" y="9359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Measurement Noise :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Imperfect return estimation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Volatility calculation variability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Environmental Variability : 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Global shocks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policy changes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Financial contagion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Modeling / Data Uncertainty: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Limited crash observations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Threshold sensitivity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Time-varying volatility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Key Random Variables and Their Roles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594302" y="17629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Response Variable (Y):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Extreme loss magnitude [Exceedances beyond −2% or −5%]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Represents crash severity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Covariates (Time-Varying):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NIFTY 50 volatility: Domestic risk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S&amp;P 500 volatility: Global influence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Gold volatility: Fear indicator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Probabilistic Models and Assumptions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594300" y="1227625"/>
            <a:ext cx="10515600" cy="5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: Generalized Pareto Distribution (GPD) for extreme losses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Volatility-Dependent Scale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Jensen’s Inequality Insight</a:t>
            </a:r>
            <a:b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Since exponential is convex: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Implication: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Volatility fluctuations increase expected crash severity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Using average volatility underestimates tail risk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Key Assumptions :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Extreme losses are heavy-tailed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Exceedances are conditionally independent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Volatility affects loss magnitude non-linearly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4" name="Google Shape;134;p19"/>
          <p:cNvPicPr preferRelativeResize="0"/>
          <p:nvPr/>
        </p:nvPicPr>
        <p:blipFill rotWithShape="1">
          <a:blip r:embed="rId3">
            <a:alphaModFix/>
          </a:blip>
          <a:srcRect b="3406" l="3805" r="2910" t="1436"/>
          <a:stretch/>
        </p:blipFill>
        <p:spPr>
          <a:xfrm>
            <a:off x="6991000" y="1773250"/>
            <a:ext cx="5008925" cy="3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2875" y="2127662"/>
            <a:ext cx="1806951" cy="3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2875" y="3272732"/>
            <a:ext cx="1806950" cy="44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915278" y="26035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Probabilistic Reasoning and Inference Logic</a:t>
            </a:r>
            <a:endParaRPr/>
          </a:p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587375" y="1773250"/>
            <a:ext cx="9465900" cy="466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Propagation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 of Uncertainty: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Volatility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affects scale parameter → alters tail heaviness → changes crash probability.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Reasoning Pathway: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Observe market volatility, update the scale parameter, construct the conditional GPD, estimate the crash severity distribution, and compute the crash probability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45" name="Google Shape;145;p20"/>
          <p:cNvSpPr/>
          <p:nvPr/>
        </p:nvSpPr>
        <p:spPr>
          <a:xfrm>
            <a:off x="2252250" y="2385250"/>
            <a:ext cx="276300" cy="21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5229732" y="2385250"/>
            <a:ext cx="276300" cy="21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7834586" y="2385250"/>
            <a:ext cx="276300" cy="21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555000" y="115900"/>
            <a:ext cx="11082000" cy="146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Operationalizing Probabilistic Reasoning in the Project</a:t>
            </a:r>
            <a:endParaRPr sz="3600"/>
          </a:p>
        </p:txBody>
      </p:sp>
      <p:sp>
        <p:nvSpPr>
          <p:cNvPr id="154" name="Google Shape;154;p2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55" name="Google Shape;155;p21"/>
          <p:cNvSpPr txBox="1"/>
          <p:nvPr/>
        </p:nvSpPr>
        <p:spPr>
          <a:xfrm>
            <a:off x="706375" y="1685882"/>
            <a:ext cx="4932000" cy="3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 of Reasoning: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Likelihood from exceedance data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Cauchy priors on parameters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 estimation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Jensen Operationalization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Volatility treated as time-varying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Nonlinear scale modeling applied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6633800" y="1709883"/>
            <a:ext cx="4932000" cy="31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Metric: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RMSE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PDF/CDF visualization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Regime comparison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Simplifying Assumptions: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Constant shape parameter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Short-term market stability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2"/>
          <p:cNvSpPr txBox="1"/>
          <p:nvPr>
            <p:ph type="title"/>
          </p:nvPr>
        </p:nvSpPr>
        <p:spPr>
          <a:xfrm>
            <a:off x="838200" y="354500"/>
            <a:ext cx="10515600" cy="1105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Limitations and Conceptual Gaps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2"/>
          <p:cNvSpPr txBox="1"/>
          <p:nvPr>
            <p:ph idx="1" type="body"/>
          </p:nvPr>
        </p:nvSpPr>
        <p:spPr>
          <a:xfrm>
            <a:off x="624600" y="1773238"/>
            <a:ext cx="10942800" cy="475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Known Weaknesses: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Less observations are done for extreme crash.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Questionable Assumptions: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Constant shape parameter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Independent extreme events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Conceptual Ambiguities: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Threshold selection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Delayed global effects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/>
          <p:nvPr>
            <p:ph type="title"/>
          </p:nvPr>
        </p:nvSpPr>
        <p:spPr>
          <a:xfrm>
            <a:off x="815225" y="361575"/>
            <a:ext cx="10515600" cy="869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Planned Refinements and Role Coordination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651900" y="1708763"/>
            <a:ext cx="10888200" cy="457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Next Milestone: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Time-varying shape parameter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Dynamic volatility models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Improved threshold selection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Role Coordination:</a:t>
            </a:r>
            <a:endParaRPr b="1"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Model role refine system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Data role enhance volatility estimation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Scribe role maintain probabilistic consistency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Reviewer ensures consistency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587378" y="115900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 of Group Level Understanding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24"/>
          <p:cNvSpPr txBox="1"/>
          <p:nvPr>
            <p:ph idx="1" type="body"/>
          </p:nvPr>
        </p:nvSpPr>
        <p:spPr>
          <a:xfrm>
            <a:off x="587375" y="1681425"/>
            <a:ext cx="11269200" cy="5060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Probabilistic Understanding: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Market crashes are very rare, major and  heavy-tailed.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Crash risk is being modeled as probability instead of predicting it.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Volatility drives crash severity nonlinearly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Key Insight: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Volatility variability amplifies extreme risk.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Average volatility is misleading.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Jensen’s inequality mathematically explains why tail risk is underestimated when volatility fluctuates.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Overall Conclusion: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We use Bayesian modeling in order to capture crash risk.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Global effects and time variation will be evolved by the model.</a:t>
            </a:r>
            <a:endParaRPr sz="2000"/>
          </a:p>
        </p:txBody>
      </p:sp>
      <p:sp>
        <p:nvSpPr>
          <p:cNvPr id="180" name="Google Shape;180;p2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838203" y="15922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6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5"/>
          <p:cNvSpPr txBox="1"/>
          <p:nvPr>
            <p:ph idx="1" type="body"/>
          </p:nvPr>
        </p:nvSpPr>
        <p:spPr>
          <a:xfrm>
            <a:off x="8421875" y="3121175"/>
            <a:ext cx="3183900" cy="30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Section 2 - </a:t>
            </a:r>
            <a:r>
              <a:rPr b="1" lang="en-US" sz="2500">
                <a:latin typeface="Times New Roman"/>
                <a:ea typeface="Times New Roman"/>
                <a:cs typeface="Times New Roman"/>
                <a:sym typeface="Times New Roman"/>
              </a:rPr>
              <a:t>Group 16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Sakshi Patel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Hitaksh Thaker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Dhruvika Mehta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Tirth Khunt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Hirva Vekariya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