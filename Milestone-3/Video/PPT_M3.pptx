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Helvetica Neue"/>
      <p:regular r:id="rId19"/>
      <p:bold r:id="rId20"/>
      <p:italic r:id="rId21"/>
      <p:boldItalic r:id="rId22"/>
    </p:embeddedFont>
    <p:embeddedFont>
      <p:font typeface="Helvetica Neue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22" Type="http://schemas.openxmlformats.org/officeDocument/2006/relationships/font" Target="fonts/HelveticaNeue-boldItalic.fntdata"/><Relationship Id="rId21" Type="http://schemas.openxmlformats.org/officeDocument/2006/relationships/font" Target="fonts/HelveticaNeue-italic.fntdata"/><Relationship Id="rId24" Type="http://schemas.openxmlformats.org/officeDocument/2006/relationships/font" Target="fonts/HelveticaNeueLight-bold.fntdata"/><Relationship Id="rId23" Type="http://schemas.openxmlformats.org/officeDocument/2006/relationships/font" Target="fonts/HelveticaNeueLigh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lveticaNeueLight-boldItalic.fntdata"/><Relationship Id="rId25" Type="http://schemas.openxmlformats.org/officeDocument/2006/relationships/font" Target="fonts/HelveticaNeue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HelveticaNeue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ccbc22efb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bccbc22efb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ccbc22efb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bccbc22efb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58d676f64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c58d676f64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ccbc22efb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bccbc22efb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58d676f64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c58d676f64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ccbc22efb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bccbc22efb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ccbc22efb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bccbc22efb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cd492992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cd492992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bcd492992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58d676f64_0_4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58d676f64_0_4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c58d676f64_0_4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cd4929920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cd4929920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bcd4929920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cd4929920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cd4929920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bcd4929920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cf28b967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cf28b967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bcf28b967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idx="1" type="body"/>
          </p:nvPr>
        </p:nvSpPr>
        <p:spPr>
          <a:xfrm>
            <a:off x="844150" y="4710224"/>
            <a:ext cx="10515601" cy="552037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848"/>
              </a:buClr>
              <a:buSzPts val="2000"/>
              <a:buFont typeface="Helvetica Neue Light"/>
              <a:buNone/>
              <a:defRPr b="0" i="0" sz="2000">
                <a:solidFill>
                  <a:srgbClr val="44484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42109" l="31991" r="32034" t="42026"/>
          <a:stretch/>
        </p:blipFill>
        <p:spPr>
          <a:xfrm>
            <a:off x="7430948" y="751519"/>
            <a:ext cx="3928803" cy="133323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/>
          <p:nvPr>
            <p:ph idx="2" type="body"/>
          </p:nvPr>
        </p:nvSpPr>
        <p:spPr>
          <a:xfrm>
            <a:off x="844150" y="3784993"/>
            <a:ext cx="10516000" cy="9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Helvetica Neue"/>
              <a:buNone/>
              <a:defRPr b="1" i="0" sz="4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74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5" name="Google Shape;65;p9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2" name="Google Shape;72;p10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4" name="Google Shape;84;p12"/>
          <p:cNvPicPr preferRelativeResize="0"/>
          <p:nvPr/>
        </p:nvPicPr>
        <p:blipFill rotWithShape="1">
          <a:blip r:embed="rId2">
            <a:alphaModFix/>
          </a:blip>
          <a:srcRect b="38397" l="29654" r="29481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906375" y="4464123"/>
            <a:ext cx="8964300" cy="7461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2000"/>
              <a:buFont typeface="Helvetica Neue Light"/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Bayesian Generalized Pareto Modeling of Extreme Stock Market Crashes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>
            <p:ph idx="2" type="body"/>
          </p:nvPr>
        </p:nvSpPr>
        <p:spPr>
          <a:xfrm>
            <a:off x="906375" y="3589802"/>
            <a:ext cx="72414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Helvetica Neue"/>
              <a:buNone/>
            </a:pP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Financial &amp; Risk Analysis</a:t>
            </a:r>
            <a:endParaRPr sz="4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Context and Motivation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594302" y="14995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Title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Bayesian Generalized Pareto Modeling of Extreme Stock Market Crashes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Domain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Finance and Risk Analysis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Real-World Context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Extreme stock market crashes occur rarely but cause severe financial losses.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Standard return models often underestimate extreme events.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Financial returns exhibit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heavy-tailed behavior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Why Uncertainty Exists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Market volatility changes over time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Global financial spillovers affect domestic markets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Investor behavior becomes unstable during crises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0600" y="2004950"/>
            <a:ext cx="3819325" cy="297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Objective and Deterministic Baseline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594300" y="1291885"/>
            <a:ext cx="10515600" cy="49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Project Objective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Model and simulate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extreme financial losses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in stock markets.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Focus on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tail events where returns fall below −2%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Estimate probability of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severe crashes (loss &gt; 5%)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Deterministic Baseline Strategy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Use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Maximum Likelihood Estimation (MLE)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to estimate parameters.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Estimate: regression coefficients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β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, GPD shape parameter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ξ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Scale parameter modeled as: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Why MLE Baseline is Reasonable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Widely used in financial risk modeling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Provides consistent parameter estimates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Establishes a deterministic benchmark before probabilistic inference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6" name="Google Shape;10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6525" y="4110725"/>
            <a:ext cx="1195100" cy="3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8617"/>
          <a:stretch/>
        </p:blipFill>
        <p:spPr>
          <a:xfrm>
            <a:off x="7837500" y="1592274"/>
            <a:ext cx="4162425" cy="230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Pipeline Overview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746000" y="1480875"/>
            <a:ext cx="4976700" cy="4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End-to-End Simulation Pipeline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Market Data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Compute Returns and Volatilit</a:t>
            </a: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Threshold Exceedance Detectio</a:t>
            </a: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Tail Dataset Construction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GPD Regression Model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Parameter Estimation using MLE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AutoNum type="arabicPeriod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Crash Risk Estimation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Where Uncertainty Enters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Financial return fluctuations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Volatility changes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Rare extreme observations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5" name="Google Shape;115;p16"/>
          <p:cNvGrpSpPr/>
          <p:nvPr/>
        </p:nvGrpSpPr>
        <p:grpSpPr>
          <a:xfrm>
            <a:off x="5897417" y="1543196"/>
            <a:ext cx="5314230" cy="3982050"/>
            <a:chOff x="5897350" y="1543175"/>
            <a:chExt cx="4840800" cy="3627300"/>
          </a:xfrm>
        </p:grpSpPr>
        <p:sp>
          <p:nvSpPr>
            <p:cNvPr id="116" name="Google Shape;116;p16"/>
            <p:cNvSpPr txBox="1"/>
            <p:nvPr/>
          </p:nvSpPr>
          <p:spPr>
            <a:xfrm>
              <a:off x="5897350" y="1543175"/>
              <a:ext cx="4840800" cy="362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0375" lIns="100375" spcFirstLastPara="1" rIns="100375" wrap="square" tIns="10037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1317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415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Flow</a:t>
              </a:r>
              <a:endParaRPr b="1" sz="24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200000"/>
                </a:lnSpc>
                <a:spcBef>
                  <a:spcPts val="1317"/>
                </a:spcBef>
                <a:spcAft>
                  <a:spcPts val="0"/>
                </a:spcAft>
                <a:buNone/>
              </a:pPr>
              <a:r>
                <a:rPr lang="en-US" sz="186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Returns </a:t>
              </a:r>
              <a:endParaRPr sz="186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200000"/>
                </a:lnSpc>
                <a:spcBef>
                  <a:spcPts val="1317"/>
                </a:spcBef>
                <a:spcAft>
                  <a:spcPts val="0"/>
                </a:spcAft>
                <a:buNone/>
              </a:pPr>
              <a:r>
                <a:rPr lang="en-US" sz="186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Extreme Losses </a:t>
              </a:r>
              <a:endParaRPr sz="186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200000"/>
                </a:lnSpc>
                <a:spcBef>
                  <a:spcPts val="1317"/>
                </a:spcBef>
                <a:spcAft>
                  <a:spcPts val="0"/>
                </a:spcAft>
                <a:buNone/>
              </a:pPr>
              <a:r>
                <a:rPr lang="en-US" sz="186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Volatility Covariates </a:t>
              </a:r>
              <a:endParaRPr sz="186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200000"/>
                </a:lnSpc>
                <a:spcBef>
                  <a:spcPts val="1317"/>
                </a:spcBef>
                <a:spcAft>
                  <a:spcPts val="0"/>
                </a:spcAft>
                <a:buNone/>
              </a:pPr>
              <a:r>
                <a:rPr lang="en-US" sz="186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GPD Model </a:t>
              </a:r>
              <a:endParaRPr sz="186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lnSpc>
                  <a:spcPct val="200000"/>
                </a:lnSpc>
                <a:spcBef>
                  <a:spcPts val="1317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866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Risk Prediction</a:t>
              </a:r>
              <a:endParaRPr sz="186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1317"/>
                </a:spcBef>
                <a:spcAft>
                  <a:spcPts val="0"/>
                </a:spcAft>
                <a:buNone/>
              </a:pPr>
              <a:r>
                <a:t/>
              </a:r>
              <a:endParaRPr sz="3073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8221600" y="2499650"/>
              <a:ext cx="192300" cy="2796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10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6"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8230022" y="3176430"/>
              <a:ext cx="192300" cy="2796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10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6"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8221600" y="3853200"/>
              <a:ext cx="192300" cy="2796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10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6"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8230025" y="4529975"/>
              <a:ext cx="192300" cy="2796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10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75" lIns="100375" spcFirstLastPara="1" rIns="100375" wrap="square" tIns="100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36"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594303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Sources of </a:t>
            </a: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Uncertainty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656150" y="1270350"/>
            <a:ext cx="10515600" cy="43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Measurement Noise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Imperfect return calculation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Volatility estimation errors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Environmental Variability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Global market shocks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Policy changes and economic events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Model and Data Uncertainty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Limited extreme crash observations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Threshold selection sensitivity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Changing market conditions over time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8" name="Google Shape;12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0425" y="1711049"/>
            <a:ext cx="5809372" cy="3435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594303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Key Random Variables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8"/>
          <p:cNvSpPr txBox="1"/>
          <p:nvPr>
            <p:ph idx="1" type="body"/>
          </p:nvPr>
        </p:nvSpPr>
        <p:spPr>
          <a:xfrm>
            <a:off x="594300" y="1073375"/>
            <a:ext cx="10515600" cy="55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1. Tail Loss Magnitude: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primary variable used to estimate crash risk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 = daily return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Represents magnitude of extreme losses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Distribution: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. Market Volatility Covariates: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determine the scale of the loss distribution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Examples: NIFTY volatility, S&amp;P 500 volatility, Gold volatility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Assumed distribution: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. Crash Event Indicator: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used to estimate crash probability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6" name="Google Shape;13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4600" y="1703599"/>
            <a:ext cx="175140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/>
          <p:cNvPicPr preferRelativeResize="0"/>
          <p:nvPr/>
        </p:nvPicPr>
        <p:blipFill rotWithShape="1">
          <a:blip r:embed="rId4">
            <a:alphaModFix/>
          </a:blip>
          <a:srcRect b="12877" l="0" r="0" t="0"/>
          <a:stretch/>
        </p:blipFill>
        <p:spPr>
          <a:xfrm>
            <a:off x="1933600" y="2937475"/>
            <a:ext cx="1525975" cy="2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7500" y="4410425"/>
            <a:ext cx="1219125" cy="2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 rotWithShape="1">
          <a:blip r:embed="rId6">
            <a:alphaModFix/>
          </a:blip>
          <a:srcRect b="10539" l="6619" r="8743" t="10039"/>
          <a:stretch/>
        </p:blipFill>
        <p:spPr>
          <a:xfrm>
            <a:off x="4188425" y="5367290"/>
            <a:ext cx="2063750" cy="7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type="title"/>
          </p:nvPr>
        </p:nvSpPr>
        <p:spPr>
          <a:xfrm>
            <a:off x="0" y="0"/>
            <a:ext cx="12192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Probabilistic Modeling with Deterministic Decisions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19"/>
          <p:cNvSpPr txBox="1"/>
          <p:nvPr>
            <p:ph idx="1" type="body"/>
          </p:nvPr>
        </p:nvSpPr>
        <p:spPr>
          <a:xfrm>
            <a:off x="587375" y="1325700"/>
            <a:ext cx="10515600" cy="3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Extreme losses modeled using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Generalized Pareto Distribution (GPD)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Scale parameter: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Probabilistic Assumptions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Extreme losses follow heavy-tailed distribution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Exceedances are conditionally independent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Volatility influences loss magnitude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3200" y="1924260"/>
            <a:ext cx="2641375" cy="52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4">
            <a:alphaModFix/>
          </a:blip>
          <a:srcRect b="26495" l="0" r="0" t="7153"/>
          <a:stretch/>
        </p:blipFill>
        <p:spPr>
          <a:xfrm>
            <a:off x="2275750" y="2756826"/>
            <a:ext cx="1666875" cy="35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Deterministic Baseline Logic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0"/>
          <p:cNvSpPr txBox="1"/>
          <p:nvPr>
            <p:ph idx="1" type="body"/>
          </p:nvPr>
        </p:nvSpPr>
        <p:spPr>
          <a:xfrm>
            <a:off x="594302" y="14989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Step-by-Step Process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Identify extreme losses where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return &lt; −2%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Construct exceedance dataset.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Model exceedances using GPD regression.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Estimate parameters using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Maximum Li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elihood Estimation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Compute crash probability using fitted distribution.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Important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No randomized decision rules are used.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Same dataset always produces the same parameter estimates.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 Implementation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1"/>
          <p:cNvSpPr txBox="1"/>
          <p:nvPr>
            <p:ph idx="1" type="body"/>
          </p:nvPr>
        </p:nvSpPr>
        <p:spPr>
          <a:xfrm>
            <a:off x="594300" y="1227625"/>
            <a:ext cx="10515600" cy="5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Algorithm Components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Data preprocessing and return computation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Volatility estimation (EWMA, Garman-Klass)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Threshold filtering (Peaks-Over-Threshold method)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GPD regression model fitting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Parameter Estimation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Shape parameter ξ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Regression coefficients β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Estimated using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MLE optimization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Outputs Generated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crash probability estimates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tail distribution visualizations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type="title"/>
          </p:nvPr>
        </p:nvSpPr>
        <p:spPr>
          <a:xfrm>
            <a:off x="915278" y="26035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Performance Analysis</a:t>
            </a:r>
            <a:endParaRPr/>
          </a:p>
        </p:txBody>
      </p:sp>
      <p:sp>
        <p:nvSpPr>
          <p:cNvPr id="169" name="Google Shape;169;p22"/>
          <p:cNvSpPr txBox="1"/>
          <p:nvPr>
            <p:ph idx="1" type="body"/>
          </p:nvPr>
        </p:nvSpPr>
        <p:spPr>
          <a:xfrm>
            <a:off x="763800" y="4511566"/>
            <a:ext cx="5542200" cy="46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Crash probability rises during volatile market periods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pic>
        <p:nvPicPr>
          <p:cNvPr id="171" name="Google Shape;17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663" y="1506775"/>
            <a:ext cx="5986468" cy="25430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2"/>
          <p:cNvSpPr txBox="1"/>
          <p:nvPr/>
        </p:nvSpPr>
        <p:spPr>
          <a:xfrm>
            <a:off x="973800" y="4049863"/>
            <a:ext cx="512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volatility increases extreme loss magnitude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3" name="Google Shape;173;p22"/>
          <p:cNvPicPr preferRelativeResize="0"/>
          <p:nvPr/>
        </p:nvPicPr>
        <p:blipFill rotWithShape="1">
          <a:blip r:embed="rId4">
            <a:alphaModFix/>
          </a:blip>
          <a:srcRect b="0" l="0" r="675" t="0"/>
          <a:stretch/>
        </p:blipFill>
        <p:spPr>
          <a:xfrm>
            <a:off x="6895850" y="1506775"/>
            <a:ext cx="4908976" cy="327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 txBox="1"/>
          <p:nvPr/>
        </p:nvSpPr>
        <p:spPr>
          <a:xfrm>
            <a:off x="6724907" y="4779375"/>
            <a:ext cx="559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Model predictions align with observed extreme losses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>
            <p:ph type="title"/>
          </p:nvPr>
        </p:nvSpPr>
        <p:spPr>
          <a:xfrm>
            <a:off x="915278" y="26035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Performance Analysis</a:t>
            </a:r>
            <a:endParaRPr/>
          </a:p>
        </p:txBody>
      </p:sp>
      <p:sp>
        <p:nvSpPr>
          <p:cNvPr id="181" name="Google Shape;181;p2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pic>
        <p:nvPicPr>
          <p:cNvPr id="182" name="Google Shape;18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675" y="1586050"/>
            <a:ext cx="6838975" cy="249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3"/>
          <p:cNvSpPr txBox="1"/>
          <p:nvPr/>
        </p:nvSpPr>
        <p:spPr>
          <a:xfrm>
            <a:off x="235043" y="4079875"/>
            <a:ext cx="638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GPD effectively captures heavy-tailed behavior of market loss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9647525" y="3207450"/>
            <a:ext cx="2221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RMSE values indicate stable parameter estimation across simulations.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" name="Google Shape;18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4150" y="1592275"/>
            <a:ext cx="2159325" cy="143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42050" y="3180725"/>
            <a:ext cx="2221425" cy="1623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47525" y="1592275"/>
            <a:ext cx="2055618" cy="143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title"/>
          </p:nvPr>
        </p:nvSpPr>
        <p:spPr>
          <a:xfrm>
            <a:off x="555000" y="115900"/>
            <a:ext cx="11082000" cy="146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Limitations of Deterministic Strategy</a:t>
            </a:r>
            <a:endParaRPr sz="3600"/>
          </a:p>
        </p:txBody>
      </p:sp>
      <p:sp>
        <p:nvSpPr>
          <p:cNvPr id="194" name="Google Shape;194;p2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95" name="Google Shape;195;p24"/>
          <p:cNvSpPr txBox="1"/>
          <p:nvPr/>
        </p:nvSpPr>
        <p:spPr>
          <a:xfrm>
            <a:off x="706375" y="1685875"/>
            <a:ext cx="8434800" cy="42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Weaknesses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MLE provides only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 estimates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 uncertainty is not modeled.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number of extreme crash observations.</a:t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Simplified Assumptions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 shape parameter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explanatory variables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Stationary market behavior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>
            <p:ph type="title"/>
          </p:nvPr>
        </p:nvSpPr>
        <p:spPr>
          <a:xfrm>
            <a:off x="0" y="433050"/>
            <a:ext cx="12192000" cy="1105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and Transition to Randomized Strategies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5"/>
          <p:cNvSpPr txBox="1"/>
          <p:nvPr>
            <p:ph idx="1" type="body"/>
          </p:nvPr>
        </p:nvSpPr>
        <p:spPr>
          <a:xfrm>
            <a:off x="624600" y="1773238"/>
            <a:ext cx="10942800" cy="475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Key Insights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Extreme market crashes follow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heavy-tailed distributions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Market volatility strongly influences crash severity.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GPD regression provides a useful framework for modeling extreme losses.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Milestone 3 -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Implemented deterministic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MLE baseline model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Milestone 4 -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Introduce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probabilistic inference methods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, such as: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Bayesian parameter estimation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stochastic volatility modeling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Monte Carlo simulations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838203" y="15922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6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6"/>
          <p:cNvSpPr txBox="1"/>
          <p:nvPr>
            <p:ph idx="1" type="body"/>
          </p:nvPr>
        </p:nvSpPr>
        <p:spPr>
          <a:xfrm>
            <a:off x="8421875" y="3121175"/>
            <a:ext cx="3183900" cy="30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Section 2 - </a:t>
            </a: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Group 16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Sakshi Patel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Dhruvika Mehta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Hitaksh Thaker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Hirva Vekariya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Tirth Khunt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